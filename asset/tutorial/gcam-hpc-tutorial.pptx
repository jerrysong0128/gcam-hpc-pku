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docProps/core.xml" Id="rId3" /><Relationship Type="http://schemas.openxmlformats.org/package/2006/relationships/metadata/thumbnail" Target="docProps/thumbnail.jpeg" Id="rId2" /><Relationship Type="http://schemas.openxmlformats.org/officeDocument/2006/relationships/officeDocument" Target="ppt/presentation.xml" Id="rId1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678e5835e1564b7b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64" r:id="rId2"/>
    <p:sldId id="11090887" r:id="rId3"/>
    <p:sldId id="11090901" r:id="rId4"/>
    <p:sldId id="11090902" r:id="R3e5521fd18f44ca0"/>
    <p:sldId id="11090903" r:id="R2660e7c6e7a645cf"/>
    <p:sldId id="11090904" r:id="R6a023cb0c6e04dc5"/>
    <p:sldId id="11090905" r:id="Re219fbdc02744667"/>
    <p:sldId id="11090906" r:id="Rf8695ae8965347c0"/>
    <p:sldId id="11090907" r:id="R4f08096f850b4ce7"/>
    <p:sldId id="11090908" r:id="Rb81514c7df4141cb"/>
    <p:sldId id="11090909" r:id="Rbb474c74a632498f"/>
    <p:sldId id="11090910" r:id="Ra9b71221822041bd"/>
    <p:sldId id="11090911" r:id="R318e9c771f7340ec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theme/theme1.xml" Id="rId8" /><Relationship Type="http://schemas.openxmlformats.org/officeDocument/2006/relationships/slide" Target="slides/slide2.xml" Id="rId3" /><Relationship Type="http://schemas.openxmlformats.org/officeDocument/2006/relationships/viewProps" Target="viewProps.xml" Id="rId7" /><Relationship Type="http://schemas.openxmlformats.org/officeDocument/2006/relationships/slide" Target="slides/slide1.xml" Id="rId2" /><Relationship Type="http://schemas.openxmlformats.org/officeDocument/2006/relationships/slideMaster" Target="slideMasters/slideMaster1.xml" Id="rId1" /><Relationship Type="http://schemas.openxmlformats.org/officeDocument/2006/relationships/presProps" Target="presProps.xml" Id="rId6" /><Relationship Type="http://schemas.openxmlformats.org/officeDocument/2006/relationships/notesMaster" Target="notesMasters/notesMaster1.xml" Id="rId5" /><Relationship Type="http://schemas.openxmlformats.org/officeDocument/2006/relationships/slide" Target="slides/slide3.xml" Id="rId4" /><Relationship Type="http://schemas.openxmlformats.org/officeDocument/2006/relationships/tableStyles" Target="tableStyles.xml" Id="rId9" /><Relationship Type="http://schemas.openxmlformats.org/officeDocument/2006/relationships/slide" Target="/ppt/slides/slide4.xml" Id="R3e5521fd18f44ca0" /><Relationship Type="http://schemas.openxmlformats.org/officeDocument/2006/relationships/slide" Target="/ppt/slides/slide5.xml" Id="R2660e7c6e7a645cf" /><Relationship Type="http://schemas.openxmlformats.org/officeDocument/2006/relationships/slide" Target="/ppt/slides/slide6.xml" Id="R6a023cb0c6e04dc5" /><Relationship Type="http://schemas.openxmlformats.org/officeDocument/2006/relationships/slide" Target="/ppt/slides/slide7.xml" Id="Re219fbdc02744667" /><Relationship Type="http://schemas.openxmlformats.org/officeDocument/2006/relationships/slide" Target="/ppt/slides/slide8.xml" Id="Rf8695ae8965347c0" /><Relationship Type="http://schemas.openxmlformats.org/officeDocument/2006/relationships/slide" Target="/ppt/slides/slide9.xml" Id="R4f08096f850b4ce7" /><Relationship Type="http://schemas.openxmlformats.org/officeDocument/2006/relationships/slide" Target="/ppt/slides/slide10.xml" Id="Rb81514c7df4141cb" /><Relationship Type="http://schemas.openxmlformats.org/officeDocument/2006/relationships/slide" Target="/ppt/slides/slide11.xml" Id="Rbb474c74a632498f" /><Relationship Type="http://schemas.openxmlformats.org/officeDocument/2006/relationships/slide" Target="/ppt/slides/slide12.xml" Id="Ra9b71221822041bd" /><Relationship Type="http://schemas.openxmlformats.org/officeDocument/2006/relationships/slide" Target="/ppt/slides/slide13.xml" Id="R318e9c771f7340ec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28469F-A6D8-F64A-A441-914690789D38}" type="datetimeFigureOut">
              <a:rPr lang="en-GB" smtClean="0"/>
              <a:t>25/07/2026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E0053-3DEE-FA4F-8F8F-504EC3FA33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360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5BF2D02-486E-4FD7-AC36-D05C34A5454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5BF2D02-486E-4FD7-AC36-D05C34A5454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C0A36-581A-0023-5F27-4BE6A1958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A1123A-E7FF-ACD3-F431-03A720644B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BBCE3C-31DF-50C2-3821-5141C7933E53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DE550B-ADBE-7CA8-61FF-76699FF03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5BF2D02-486E-4FD7-AC36-D05C34A5454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6717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9990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78422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635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prstClr val="white"/>
              </a:solidFill>
              <a:latin typeface="Arial" panose="020B0604020202090204" pitchFamily="34" charset="0"/>
              <a:ea typeface="微软雅黑" panose="020B0503020204020204" pitchFamily="34" charset="-122"/>
              <a:cs typeface="Arial" panose="020B0604020202090204" pitchFamily="34" charset="0"/>
              <a:sym typeface="Arial" panose="020B0604020202090204" pitchFamily="34" charset="0"/>
            </a:endParaRPr>
          </a:p>
        </p:txBody>
      </p:sp>
      <p:sp>
        <p:nvSpPr>
          <p:cNvPr id="11" name="任意多边形: 形状 10"/>
          <p:cNvSpPr/>
          <p:nvPr/>
        </p:nvSpPr>
        <p:spPr>
          <a:xfrm flipV="1">
            <a:off x="441222" y="675002"/>
            <a:ext cx="11750778" cy="109222"/>
          </a:xfrm>
          <a:custGeom>
            <a:avLst/>
            <a:gdLst>
              <a:gd name="connsiteX0" fmla="*/ 0 w 11621729"/>
              <a:gd name="connsiteY0" fmla="*/ 98323 h 98323"/>
              <a:gd name="connsiteX1" fmla="*/ 98323 w 11621729"/>
              <a:gd name="connsiteY1" fmla="*/ 0 h 98323"/>
              <a:gd name="connsiteX2" fmla="*/ 11621729 w 11621729"/>
              <a:gd name="connsiteY2" fmla="*/ 0 h 98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1729" h="98323">
                <a:moveTo>
                  <a:pt x="0" y="98323"/>
                </a:moveTo>
                <a:lnTo>
                  <a:pt x="98323" y="0"/>
                </a:lnTo>
                <a:lnTo>
                  <a:pt x="11621729" y="0"/>
                </a:lnTo>
              </a:path>
            </a:pathLst>
          </a:custGeom>
          <a:ln w="22225">
            <a:gradFill>
              <a:gsLst>
                <a:gs pos="0">
                  <a:srgbClr val="002060"/>
                </a:gs>
                <a:gs pos="100000">
                  <a:srgbClr val="004AB8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rPr>
              <a:t> </a:t>
            </a:r>
            <a:endParaRPr lang="zh-CN" altLang="en-US" dirty="0">
              <a:latin typeface="Arial" panose="020B0604020202090204" pitchFamily="34" charset="0"/>
              <a:ea typeface="微软雅黑" panose="020B0503020204020204" pitchFamily="34" charset="-122"/>
              <a:sym typeface="Arial" panose="020B0604020202090204" pitchFamily="34" charset="0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403383" y="636746"/>
            <a:ext cx="45720" cy="45720"/>
          </a:xfrm>
          <a:prstGeom prst="ellipse">
            <a:avLst/>
          </a:prstGeom>
          <a:ln w="12700">
            <a:gradFill>
              <a:gsLst>
                <a:gs pos="0">
                  <a:srgbClr val="002060"/>
                </a:gs>
                <a:gs pos="100000">
                  <a:srgbClr val="0E68BA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Arial" panose="020B0604020202090204" pitchFamily="34" charset="0"/>
              <a:ea typeface="微软雅黑" panose="020B0503020204020204" pitchFamily="34" charset="-122"/>
              <a:sym typeface="Arial" panose="020B0604020202090204" pitchFamily="34" charset="0"/>
            </a:endParaRPr>
          </a:p>
        </p:txBody>
      </p:sp>
      <p:sp>
        <p:nvSpPr>
          <p:cNvPr id="13" name="任意多边形: 形状 12"/>
          <p:cNvSpPr/>
          <p:nvPr userDrawn="1"/>
        </p:nvSpPr>
        <p:spPr>
          <a:xfrm flipV="1">
            <a:off x="0" y="691657"/>
            <a:ext cx="500857" cy="92889"/>
          </a:xfrm>
          <a:custGeom>
            <a:avLst/>
            <a:gdLst>
              <a:gd name="connsiteX0" fmla="*/ 0 w 500857"/>
              <a:gd name="connsiteY0" fmla="*/ 92889 h 92889"/>
              <a:gd name="connsiteX1" fmla="*/ 416281 w 500857"/>
              <a:gd name="connsiteY1" fmla="*/ 92889 h 92889"/>
              <a:gd name="connsiteX2" fmla="*/ 500857 w 500857"/>
              <a:gd name="connsiteY2" fmla="*/ 0 h 92889"/>
              <a:gd name="connsiteX3" fmla="*/ 0 w 500857"/>
              <a:gd name="connsiteY3" fmla="*/ 0 h 92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857" h="92889">
                <a:moveTo>
                  <a:pt x="0" y="92889"/>
                </a:moveTo>
                <a:lnTo>
                  <a:pt x="416281" y="92889"/>
                </a:lnTo>
                <a:lnTo>
                  <a:pt x="500857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2060">
                  <a:alpha val="0"/>
                </a:srgbClr>
              </a:gs>
              <a:gs pos="100000">
                <a:srgbClr val="004AB8"/>
              </a:gs>
            </a:gsLst>
            <a:lin ang="10800000" scaled="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atin typeface="Arial" panose="020B0604020202090204" pitchFamily="34" charset="0"/>
              <a:ea typeface="微软雅黑" panose="020B0503020204020204" pitchFamily="34" charset="-122"/>
              <a:sym typeface="Arial" panose="020B0604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485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1433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0718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github.com/jerrysong0128/gcam-hpc-PKU" TargetMode="External"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ea0b0998140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465101b8d45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8f762750940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1574c57274a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783698fb74d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31cc48e6446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b133c48f1849cb" /><Relationship Type="http://schemas.openxmlformats.org/officeDocument/2006/relationships/image" Target="/ppt/media/image5.png" Id="R61a33ff7bef845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0f69bcff74569" /><Relationship Type="http://schemas.openxmlformats.org/officeDocument/2006/relationships/image" Target="/ppt/media/image6.png" Id="Ref665216dd1b4d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7c727a78a477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2dd5b1df64375" /></Relationships>
</file>

<file path=ppt/slides/slide1.xml><?xml version="1.0" encoding="utf-8"?>
<p:sld xmlns:a14="http://schemas.microsoft.com/office/drawing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7" name="文本框 2"/>
          <p:cNvSpPr txBox="1"/>
          <p:nvPr/>
        </p:nvSpPr>
        <p:spPr>
          <a:xfrm>
            <a:off x="411191" y="2366435"/>
            <a:ext cx="11643208" cy="909801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228600" indent="-228600" algn="l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marR="0" lvl="0" indent="0" algn="ctr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52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GCAM-China-v8 </a:t>
            </a:r>
            <a:r>
              <a:rPr kumimoji="0" lang="zh-CN" altLang="en-US" sz="52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模型概览</a:t>
            </a:r>
          </a:p>
        </p:txBody>
      </p:sp>
      <p:sp>
        <p:nvSpPr>
          <p:cNvPr id="170" name="文本框 169"/>
          <p:cNvSpPr txBox="1"/>
          <p:nvPr/>
        </p:nvSpPr>
        <p:spPr>
          <a:xfrm>
            <a:off x="4925794" y="5148047"/>
            <a:ext cx="2614002" cy="494624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6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2025</a:t>
            </a:r>
            <a:r>
              <a:rPr kumimoji="0" lang="zh-CN" altLang="en-US" sz="26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年</a:t>
            </a:r>
            <a:r>
              <a:rPr kumimoji="0" lang="en-US" altLang="zh-CN" sz="26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4</a:t>
            </a:r>
            <a:r>
              <a:rPr kumimoji="0" lang="zh-CN" altLang="en-US" sz="26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月</a:t>
            </a:r>
            <a:r>
              <a:rPr kumimoji="0" lang="en-US" altLang="zh-CN" sz="26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12</a:t>
            </a:r>
            <a:r>
              <a:rPr kumimoji="0" lang="zh-CN" altLang="en-US" sz="26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日</a:t>
            </a:r>
          </a:p>
        </p:txBody>
      </p:sp>
      <p:sp>
        <p:nvSpPr>
          <p:cNvPr id="3" name="文本框 34"/>
          <p:cNvSpPr txBox="1"/>
          <p:nvPr/>
        </p:nvSpPr>
        <p:spPr>
          <a:xfrm>
            <a:off x="201609" y="245118"/>
            <a:ext cx="40722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2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2026</a:t>
            </a:r>
            <a:r>
              <a:rPr kumimoji="0" lang="zh-CN" altLang="en-US" sz="2200" b="1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rial"/>
                <a:ea typeface="微软雅黑"/>
                <a:cs typeface="+mn-ea"/>
                <a:sym typeface="+mn-lt"/>
              </a:rPr>
              <a:t> 气候变化综合评估模型与国家情景数据库专题研讨会</a:t>
            </a:r>
          </a:p>
        </p:txBody>
      </p:sp>
    </p:spTree>
  </p:cSld>
  <p:clrMapOvr>
    <a:masterClrMapping/>
  </p:clrMapOvr>
</p:sld>
</file>

<file path=ppt/slides/slide2.xml><?xml version="1.0" encoding="utf-8"?>
<p:sld xmlns:a14="http://schemas.microsoft.com/office/drawing/2010/main" xmlns:a16="http://schemas.microsoft.com/office/drawing/2014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-矩形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91329" y="116632"/>
            <a:ext cx="106918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tabLst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ea"/>
                <a:sym typeface="+mn-lt"/>
              </a:rPr>
              <a:t>汇报提纲</a:t>
            </a:r>
          </a:p>
        </p:txBody>
      </p:sp>
      <p:sp>
        <p:nvSpPr>
          <p:cNvPr id="5" name="矩形 39"/>
          <p:cNvSpPr/>
          <p:nvPr/>
        </p:nvSpPr>
        <p:spPr>
          <a:xfrm>
            <a:off x="2908014" y="2048552"/>
            <a:ext cx="6375971" cy="69075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95000"/>
              </a:schemeClr>
            </a:solidFill>
          </a:ln>
          <a:effectLst>
            <a:outerShdw blurRad="635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矩形 23"/>
          <p:cNvSpPr/>
          <p:nvPr/>
        </p:nvSpPr>
        <p:spPr>
          <a:xfrm>
            <a:off x="2908015" y="2048552"/>
            <a:ext cx="1317769" cy="690754"/>
          </a:xfrm>
          <a:custGeom>
            <a:avLst/>
            <a:gdLst>
              <a:gd name="connsiteX0" fmla="*/ 0 w 1200944"/>
              <a:gd name="connsiteY0" fmla="*/ 0 h 720000"/>
              <a:gd name="connsiteX1" fmla="*/ 1200944 w 1200944"/>
              <a:gd name="connsiteY1" fmla="*/ 0 h 720000"/>
              <a:gd name="connsiteX2" fmla="*/ 1200944 w 1200944"/>
              <a:gd name="connsiteY2" fmla="*/ 720000 h 720000"/>
              <a:gd name="connsiteX3" fmla="*/ 0 w 1200944"/>
              <a:gd name="connsiteY3" fmla="*/ 720000 h 720000"/>
              <a:gd name="connsiteX4" fmla="*/ 0 w 1200944"/>
              <a:gd name="connsiteY4" fmla="*/ 0 h 720000"/>
              <a:gd name="connsiteX0-1" fmla="*/ 0 w 1200944"/>
              <a:gd name="connsiteY0-2" fmla="*/ 0 h 720636"/>
              <a:gd name="connsiteX1-3" fmla="*/ 1200944 w 1200944"/>
              <a:gd name="connsiteY1-4" fmla="*/ 0 h 720636"/>
              <a:gd name="connsiteX2-5" fmla="*/ 1200944 w 1200944"/>
              <a:gd name="connsiteY2-6" fmla="*/ 720000 h 720636"/>
              <a:gd name="connsiteX3-7" fmla="*/ 822325 w 1200944"/>
              <a:gd name="connsiteY3-8" fmla="*/ 720636 h 720636"/>
              <a:gd name="connsiteX4-9" fmla="*/ 0 w 1200944"/>
              <a:gd name="connsiteY4-10" fmla="*/ 720000 h 720636"/>
              <a:gd name="connsiteX5" fmla="*/ 0 w 1200944"/>
              <a:gd name="connsiteY5" fmla="*/ 0 h 720636"/>
              <a:gd name="connsiteX0-11" fmla="*/ 0 w 1200944"/>
              <a:gd name="connsiteY0-12" fmla="*/ 0 h 720636"/>
              <a:gd name="connsiteX1-13" fmla="*/ 1200944 w 1200944"/>
              <a:gd name="connsiteY1-14" fmla="*/ 0 h 720636"/>
              <a:gd name="connsiteX2-15" fmla="*/ 822325 w 1200944"/>
              <a:gd name="connsiteY2-16" fmla="*/ 720636 h 720636"/>
              <a:gd name="connsiteX3-17" fmla="*/ 0 w 1200944"/>
              <a:gd name="connsiteY3-18" fmla="*/ 720000 h 720636"/>
              <a:gd name="connsiteX4-19" fmla="*/ 0 w 1200944"/>
              <a:gd name="connsiteY4-20" fmla="*/ 0 h 720636"/>
              <a:gd name="connsiteX0-21" fmla="*/ 0 w 1200944"/>
              <a:gd name="connsiteY0-22" fmla="*/ 0 h 720636"/>
              <a:gd name="connsiteX1-23" fmla="*/ 1200944 w 1200944"/>
              <a:gd name="connsiteY1-24" fmla="*/ 0 h 720636"/>
              <a:gd name="connsiteX2-25" fmla="*/ 822325 w 1200944"/>
              <a:gd name="connsiteY2-26" fmla="*/ 720636 h 720636"/>
              <a:gd name="connsiteX3-27" fmla="*/ 0 w 1200944"/>
              <a:gd name="connsiteY3-28" fmla="*/ 720000 h 720636"/>
              <a:gd name="connsiteX4-29" fmla="*/ 0 w 1200944"/>
              <a:gd name="connsiteY4-30" fmla="*/ 0 h 720636"/>
              <a:gd name="connsiteX0-31" fmla="*/ 0 w 1374775"/>
              <a:gd name="connsiteY0-32" fmla="*/ 0 h 720636"/>
              <a:gd name="connsiteX1-33" fmla="*/ 1374775 w 1374775"/>
              <a:gd name="connsiteY1-34" fmla="*/ 0 h 720636"/>
              <a:gd name="connsiteX2-35" fmla="*/ 822325 w 1374775"/>
              <a:gd name="connsiteY2-36" fmla="*/ 720636 h 720636"/>
              <a:gd name="connsiteX3-37" fmla="*/ 0 w 1374775"/>
              <a:gd name="connsiteY3-38" fmla="*/ 720000 h 720636"/>
              <a:gd name="connsiteX4-39" fmla="*/ 0 w 1374775"/>
              <a:gd name="connsiteY4-40" fmla="*/ 0 h 720636"/>
              <a:gd name="connsiteX0-41" fmla="*/ 0 w 1374775"/>
              <a:gd name="connsiteY0-42" fmla="*/ 0 h 720636"/>
              <a:gd name="connsiteX1-43" fmla="*/ 1374775 w 1374775"/>
              <a:gd name="connsiteY1-44" fmla="*/ 0 h 720636"/>
              <a:gd name="connsiteX2-45" fmla="*/ 822325 w 1374775"/>
              <a:gd name="connsiteY2-46" fmla="*/ 720636 h 720636"/>
              <a:gd name="connsiteX3-47" fmla="*/ 0 w 1374775"/>
              <a:gd name="connsiteY3-48" fmla="*/ 720000 h 720636"/>
              <a:gd name="connsiteX4-49" fmla="*/ 0 w 1374775"/>
              <a:gd name="connsiteY4-50" fmla="*/ 0 h 720636"/>
              <a:gd name="connsiteX0-51" fmla="*/ 0 w 1374775"/>
              <a:gd name="connsiteY0-52" fmla="*/ 0 h 720636"/>
              <a:gd name="connsiteX1-53" fmla="*/ 1374775 w 1374775"/>
              <a:gd name="connsiteY1-54" fmla="*/ 0 h 720636"/>
              <a:gd name="connsiteX2-55" fmla="*/ 822325 w 1374775"/>
              <a:gd name="connsiteY2-56" fmla="*/ 720636 h 720636"/>
              <a:gd name="connsiteX3-57" fmla="*/ 0 w 1374775"/>
              <a:gd name="connsiteY3-58" fmla="*/ 720000 h 720636"/>
              <a:gd name="connsiteX4-59" fmla="*/ 0 w 1374775"/>
              <a:gd name="connsiteY4-60" fmla="*/ 0 h 720636"/>
              <a:gd name="connsiteX0-61" fmla="*/ 0 w 1374775"/>
              <a:gd name="connsiteY0-62" fmla="*/ 0 h 720636"/>
              <a:gd name="connsiteX1-63" fmla="*/ 1374775 w 1374775"/>
              <a:gd name="connsiteY1-64" fmla="*/ 0 h 720636"/>
              <a:gd name="connsiteX2-65" fmla="*/ 822325 w 1374775"/>
              <a:gd name="connsiteY2-66" fmla="*/ 720636 h 720636"/>
              <a:gd name="connsiteX3-67" fmla="*/ 0 w 1374775"/>
              <a:gd name="connsiteY3-68" fmla="*/ 720000 h 720636"/>
              <a:gd name="connsiteX4-69" fmla="*/ 0 w 1374775"/>
              <a:gd name="connsiteY4-70" fmla="*/ 0 h 720636"/>
              <a:gd name="connsiteX0-71" fmla="*/ 0 w 1374775"/>
              <a:gd name="connsiteY0-72" fmla="*/ 0 h 720636"/>
              <a:gd name="connsiteX1-73" fmla="*/ 1374775 w 1374775"/>
              <a:gd name="connsiteY1-74" fmla="*/ 0 h 720636"/>
              <a:gd name="connsiteX2-75" fmla="*/ 822325 w 1374775"/>
              <a:gd name="connsiteY2-76" fmla="*/ 720636 h 720636"/>
              <a:gd name="connsiteX3-77" fmla="*/ 0 w 1374775"/>
              <a:gd name="connsiteY3-78" fmla="*/ 720000 h 720636"/>
              <a:gd name="connsiteX4-79" fmla="*/ 0 w 1374775"/>
              <a:gd name="connsiteY4-80" fmla="*/ 0 h 7206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374775" h="720636">
                <a:moveTo>
                  <a:pt x="0" y="0"/>
                </a:moveTo>
                <a:lnTo>
                  <a:pt x="1374775" y="0"/>
                </a:lnTo>
                <a:cubicBezTo>
                  <a:pt x="1022351" y="211637"/>
                  <a:pt x="1105694" y="718550"/>
                  <a:pt x="822325" y="720636"/>
                </a:cubicBez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004A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000" rtlCol="0" anchor="ctr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微软雅黑" panose="020B0503020204020204" pitchFamily="34" charset="-122"/>
                <a:cs typeface="+mn-cs"/>
              </a:rPr>
              <a:t>一</a:t>
            </a:r>
          </a:p>
        </p:txBody>
      </p:sp>
      <p:sp>
        <p:nvSpPr>
          <p:cNvPr id="7" name="矩形 41"/>
          <p:cNvSpPr/>
          <p:nvPr/>
        </p:nvSpPr>
        <p:spPr>
          <a:xfrm>
            <a:off x="4434581" y="2132318"/>
            <a:ext cx="4052713" cy="523220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4AB8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GCAM-China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4AB8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 </a:t>
            </a:r>
            <a:r>
              <a:rPr kumimoji="0" lang="zh-CN" altLang="en-US" sz="2800" b="1" i="0" u="none" strike="noStrike" kern="1200" cap="none" spc="225" normalizeH="0" baseline="0" noProof="0" dirty="0">
                <a:ln>
                  <a:noFill/>
                </a:ln>
                <a:solidFill>
                  <a:srgbClr val="004AB8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基本情况</a:t>
            </a:r>
          </a:p>
        </p:txBody>
      </p:sp>
      <p:sp>
        <p:nvSpPr>
          <p:cNvPr id="8" name="矩形 42"/>
          <p:cNvSpPr/>
          <p:nvPr/>
        </p:nvSpPr>
        <p:spPr>
          <a:xfrm>
            <a:off x="2908014" y="3083623"/>
            <a:ext cx="6375971" cy="69075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95000"/>
              </a:schemeClr>
            </a:solidFill>
          </a:ln>
          <a:effectLst>
            <a:outerShdw blurRad="635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23"/>
          <p:cNvSpPr/>
          <p:nvPr/>
        </p:nvSpPr>
        <p:spPr>
          <a:xfrm>
            <a:off x="2908015" y="3083623"/>
            <a:ext cx="1317769" cy="690754"/>
          </a:xfrm>
          <a:custGeom>
            <a:avLst/>
            <a:gdLst>
              <a:gd name="connsiteX0" fmla="*/ 0 w 1200944"/>
              <a:gd name="connsiteY0" fmla="*/ 0 h 720000"/>
              <a:gd name="connsiteX1" fmla="*/ 1200944 w 1200944"/>
              <a:gd name="connsiteY1" fmla="*/ 0 h 720000"/>
              <a:gd name="connsiteX2" fmla="*/ 1200944 w 1200944"/>
              <a:gd name="connsiteY2" fmla="*/ 720000 h 720000"/>
              <a:gd name="connsiteX3" fmla="*/ 0 w 1200944"/>
              <a:gd name="connsiteY3" fmla="*/ 720000 h 720000"/>
              <a:gd name="connsiteX4" fmla="*/ 0 w 1200944"/>
              <a:gd name="connsiteY4" fmla="*/ 0 h 720000"/>
              <a:gd name="connsiteX0-1" fmla="*/ 0 w 1200944"/>
              <a:gd name="connsiteY0-2" fmla="*/ 0 h 720636"/>
              <a:gd name="connsiteX1-3" fmla="*/ 1200944 w 1200944"/>
              <a:gd name="connsiteY1-4" fmla="*/ 0 h 720636"/>
              <a:gd name="connsiteX2-5" fmla="*/ 1200944 w 1200944"/>
              <a:gd name="connsiteY2-6" fmla="*/ 720000 h 720636"/>
              <a:gd name="connsiteX3-7" fmla="*/ 822325 w 1200944"/>
              <a:gd name="connsiteY3-8" fmla="*/ 720636 h 720636"/>
              <a:gd name="connsiteX4-9" fmla="*/ 0 w 1200944"/>
              <a:gd name="connsiteY4-10" fmla="*/ 720000 h 720636"/>
              <a:gd name="connsiteX5" fmla="*/ 0 w 1200944"/>
              <a:gd name="connsiteY5" fmla="*/ 0 h 720636"/>
              <a:gd name="connsiteX0-11" fmla="*/ 0 w 1200944"/>
              <a:gd name="connsiteY0-12" fmla="*/ 0 h 720636"/>
              <a:gd name="connsiteX1-13" fmla="*/ 1200944 w 1200944"/>
              <a:gd name="connsiteY1-14" fmla="*/ 0 h 720636"/>
              <a:gd name="connsiteX2-15" fmla="*/ 822325 w 1200944"/>
              <a:gd name="connsiteY2-16" fmla="*/ 720636 h 720636"/>
              <a:gd name="connsiteX3-17" fmla="*/ 0 w 1200944"/>
              <a:gd name="connsiteY3-18" fmla="*/ 720000 h 720636"/>
              <a:gd name="connsiteX4-19" fmla="*/ 0 w 1200944"/>
              <a:gd name="connsiteY4-20" fmla="*/ 0 h 720636"/>
              <a:gd name="connsiteX0-21" fmla="*/ 0 w 1200944"/>
              <a:gd name="connsiteY0-22" fmla="*/ 0 h 720636"/>
              <a:gd name="connsiteX1-23" fmla="*/ 1200944 w 1200944"/>
              <a:gd name="connsiteY1-24" fmla="*/ 0 h 720636"/>
              <a:gd name="connsiteX2-25" fmla="*/ 822325 w 1200944"/>
              <a:gd name="connsiteY2-26" fmla="*/ 720636 h 720636"/>
              <a:gd name="connsiteX3-27" fmla="*/ 0 w 1200944"/>
              <a:gd name="connsiteY3-28" fmla="*/ 720000 h 720636"/>
              <a:gd name="connsiteX4-29" fmla="*/ 0 w 1200944"/>
              <a:gd name="connsiteY4-30" fmla="*/ 0 h 720636"/>
              <a:gd name="connsiteX0-31" fmla="*/ 0 w 1374775"/>
              <a:gd name="connsiteY0-32" fmla="*/ 0 h 720636"/>
              <a:gd name="connsiteX1-33" fmla="*/ 1374775 w 1374775"/>
              <a:gd name="connsiteY1-34" fmla="*/ 0 h 720636"/>
              <a:gd name="connsiteX2-35" fmla="*/ 822325 w 1374775"/>
              <a:gd name="connsiteY2-36" fmla="*/ 720636 h 720636"/>
              <a:gd name="connsiteX3-37" fmla="*/ 0 w 1374775"/>
              <a:gd name="connsiteY3-38" fmla="*/ 720000 h 720636"/>
              <a:gd name="connsiteX4-39" fmla="*/ 0 w 1374775"/>
              <a:gd name="connsiteY4-40" fmla="*/ 0 h 720636"/>
              <a:gd name="connsiteX0-41" fmla="*/ 0 w 1374775"/>
              <a:gd name="connsiteY0-42" fmla="*/ 0 h 720636"/>
              <a:gd name="connsiteX1-43" fmla="*/ 1374775 w 1374775"/>
              <a:gd name="connsiteY1-44" fmla="*/ 0 h 720636"/>
              <a:gd name="connsiteX2-45" fmla="*/ 822325 w 1374775"/>
              <a:gd name="connsiteY2-46" fmla="*/ 720636 h 720636"/>
              <a:gd name="connsiteX3-47" fmla="*/ 0 w 1374775"/>
              <a:gd name="connsiteY3-48" fmla="*/ 720000 h 720636"/>
              <a:gd name="connsiteX4-49" fmla="*/ 0 w 1374775"/>
              <a:gd name="connsiteY4-50" fmla="*/ 0 h 720636"/>
              <a:gd name="connsiteX0-51" fmla="*/ 0 w 1374775"/>
              <a:gd name="connsiteY0-52" fmla="*/ 0 h 720636"/>
              <a:gd name="connsiteX1-53" fmla="*/ 1374775 w 1374775"/>
              <a:gd name="connsiteY1-54" fmla="*/ 0 h 720636"/>
              <a:gd name="connsiteX2-55" fmla="*/ 822325 w 1374775"/>
              <a:gd name="connsiteY2-56" fmla="*/ 720636 h 720636"/>
              <a:gd name="connsiteX3-57" fmla="*/ 0 w 1374775"/>
              <a:gd name="connsiteY3-58" fmla="*/ 720000 h 720636"/>
              <a:gd name="connsiteX4-59" fmla="*/ 0 w 1374775"/>
              <a:gd name="connsiteY4-60" fmla="*/ 0 h 720636"/>
              <a:gd name="connsiteX0-61" fmla="*/ 0 w 1374775"/>
              <a:gd name="connsiteY0-62" fmla="*/ 0 h 720636"/>
              <a:gd name="connsiteX1-63" fmla="*/ 1374775 w 1374775"/>
              <a:gd name="connsiteY1-64" fmla="*/ 0 h 720636"/>
              <a:gd name="connsiteX2-65" fmla="*/ 822325 w 1374775"/>
              <a:gd name="connsiteY2-66" fmla="*/ 720636 h 720636"/>
              <a:gd name="connsiteX3-67" fmla="*/ 0 w 1374775"/>
              <a:gd name="connsiteY3-68" fmla="*/ 720000 h 720636"/>
              <a:gd name="connsiteX4-69" fmla="*/ 0 w 1374775"/>
              <a:gd name="connsiteY4-70" fmla="*/ 0 h 720636"/>
              <a:gd name="connsiteX0-71" fmla="*/ 0 w 1374775"/>
              <a:gd name="connsiteY0-72" fmla="*/ 0 h 720636"/>
              <a:gd name="connsiteX1-73" fmla="*/ 1374775 w 1374775"/>
              <a:gd name="connsiteY1-74" fmla="*/ 0 h 720636"/>
              <a:gd name="connsiteX2-75" fmla="*/ 822325 w 1374775"/>
              <a:gd name="connsiteY2-76" fmla="*/ 720636 h 720636"/>
              <a:gd name="connsiteX3-77" fmla="*/ 0 w 1374775"/>
              <a:gd name="connsiteY3-78" fmla="*/ 720000 h 720636"/>
              <a:gd name="connsiteX4-79" fmla="*/ 0 w 1374775"/>
              <a:gd name="connsiteY4-80" fmla="*/ 0 h 7206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374775" h="720636">
                <a:moveTo>
                  <a:pt x="0" y="0"/>
                </a:moveTo>
                <a:lnTo>
                  <a:pt x="1374775" y="0"/>
                </a:lnTo>
                <a:cubicBezTo>
                  <a:pt x="1022351" y="211637"/>
                  <a:pt x="1105694" y="718550"/>
                  <a:pt x="822325" y="720636"/>
                </a:cubicBez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000" rtlCol="0" anchor="ctr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微软雅黑" panose="020B0503020204020204" pitchFamily="34" charset="-122"/>
                <a:cs typeface="+mn-cs"/>
              </a:rPr>
              <a:t>二</a:t>
            </a:r>
          </a:p>
        </p:txBody>
      </p:sp>
      <p:sp>
        <p:nvSpPr>
          <p:cNvPr id="10" name="矩形 44"/>
          <p:cNvSpPr/>
          <p:nvPr/>
        </p:nvSpPr>
        <p:spPr>
          <a:xfrm>
            <a:off x="4434581" y="3167389"/>
            <a:ext cx="4573688" cy="523220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GCAM-China-v8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 </a:t>
            </a:r>
            <a:r>
              <a:rPr kumimoji="0" lang="zh-CN" altLang="en-US" sz="2800" b="1" i="0" u="none" strike="noStrike" kern="1200" cap="none" spc="225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主要功能</a:t>
            </a:r>
          </a:p>
        </p:txBody>
      </p:sp>
      <p:sp>
        <p:nvSpPr>
          <p:cNvPr id="11" name="矩形 45"/>
          <p:cNvSpPr/>
          <p:nvPr/>
        </p:nvSpPr>
        <p:spPr>
          <a:xfrm>
            <a:off x="2908014" y="4118693"/>
            <a:ext cx="6375971" cy="69075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95000"/>
              </a:schemeClr>
            </a:solidFill>
          </a:ln>
          <a:effectLst>
            <a:outerShdw blurRad="635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23"/>
          <p:cNvSpPr/>
          <p:nvPr/>
        </p:nvSpPr>
        <p:spPr>
          <a:xfrm>
            <a:off x="2908015" y="4118693"/>
            <a:ext cx="1317769" cy="690754"/>
          </a:xfrm>
          <a:custGeom>
            <a:avLst/>
            <a:gdLst>
              <a:gd name="connsiteX0" fmla="*/ 0 w 1200944"/>
              <a:gd name="connsiteY0" fmla="*/ 0 h 720000"/>
              <a:gd name="connsiteX1" fmla="*/ 1200944 w 1200944"/>
              <a:gd name="connsiteY1" fmla="*/ 0 h 720000"/>
              <a:gd name="connsiteX2" fmla="*/ 1200944 w 1200944"/>
              <a:gd name="connsiteY2" fmla="*/ 720000 h 720000"/>
              <a:gd name="connsiteX3" fmla="*/ 0 w 1200944"/>
              <a:gd name="connsiteY3" fmla="*/ 720000 h 720000"/>
              <a:gd name="connsiteX4" fmla="*/ 0 w 1200944"/>
              <a:gd name="connsiteY4" fmla="*/ 0 h 720000"/>
              <a:gd name="connsiteX0-1" fmla="*/ 0 w 1200944"/>
              <a:gd name="connsiteY0-2" fmla="*/ 0 h 720636"/>
              <a:gd name="connsiteX1-3" fmla="*/ 1200944 w 1200944"/>
              <a:gd name="connsiteY1-4" fmla="*/ 0 h 720636"/>
              <a:gd name="connsiteX2-5" fmla="*/ 1200944 w 1200944"/>
              <a:gd name="connsiteY2-6" fmla="*/ 720000 h 720636"/>
              <a:gd name="connsiteX3-7" fmla="*/ 822325 w 1200944"/>
              <a:gd name="connsiteY3-8" fmla="*/ 720636 h 720636"/>
              <a:gd name="connsiteX4-9" fmla="*/ 0 w 1200944"/>
              <a:gd name="connsiteY4-10" fmla="*/ 720000 h 720636"/>
              <a:gd name="connsiteX5" fmla="*/ 0 w 1200944"/>
              <a:gd name="connsiteY5" fmla="*/ 0 h 720636"/>
              <a:gd name="connsiteX0-11" fmla="*/ 0 w 1200944"/>
              <a:gd name="connsiteY0-12" fmla="*/ 0 h 720636"/>
              <a:gd name="connsiteX1-13" fmla="*/ 1200944 w 1200944"/>
              <a:gd name="connsiteY1-14" fmla="*/ 0 h 720636"/>
              <a:gd name="connsiteX2-15" fmla="*/ 822325 w 1200944"/>
              <a:gd name="connsiteY2-16" fmla="*/ 720636 h 720636"/>
              <a:gd name="connsiteX3-17" fmla="*/ 0 w 1200944"/>
              <a:gd name="connsiteY3-18" fmla="*/ 720000 h 720636"/>
              <a:gd name="connsiteX4-19" fmla="*/ 0 w 1200944"/>
              <a:gd name="connsiteY4-20" fmla="*/ 0 h 720636"/>
              <a:gd name="connsiteX0-21" fmla="*/ 0 w 1200944"/>
              <a:gd name="connsiteY0-22" fmla="*/ 0 h 720636"/>
              <a:gd name="connsiteX1-23" fmla="*/ 1200944 w 1200944"/>
              <a:gd name="connsiteY1-24" fmla="*/ 0 h 720636"/>
              <a:gd name="connsiteX2-25" fmla="*/ 822325 w 1200944"/>
              <a:gd name="connsiteY2-26" fmla="*/ 720636 h 720636"/>
              <a:gd name="connsiteX3-27" fmla="*/ 0 w 1200944"/>
              <a:gd name="connsiteY3-28" fmla="*/ 720000 h 720636"/>
              <a:gd name="connsiteX4-29" fmla="*/ 0 w 1200944"/>
              <a:gd name="connsiteY4-30" fmla="*/ 0 h 720636"/>
              <a:gd name="connsiteX0-31" fmla="*/ 0 w 1374775"/>
              <a:gd name="connsiteY0-32" fmla="*/ 0 h 720636"/>
              <a:gd name="connsiteX1-33" fmla="*/ 1374775 w 1374775"/>
              <a:gd name="connsiteY1-34" fmla="*/ 0 h 720636"/>
              <a:gd name="connsiteX2-35" fmla="*/ 822325 w 1374775"/>
              <a:gd name="connsiteY2-36" fmla="*/ 720636 h 720636"/>
              <a:gd name="connsiteX3-37" fmla="*/ 0 w 1374775"/>
              <a:gd name="connsiteY3-38" fmla="*/ 720000 h 720636"/>
              <a:gd name="connsiteX4-39" fmla="*/ 0 w 1374775"/>
              <a:gd name="connsiteY4-40" fmla="*/ 0 h 720636"/>
              <a:gd name="connsiteX0-41" fmla="*/ 0 w 1374775"/>
              <a:gd name="connsiteY0-42" fmla="*/ 0 h 720636"/>
              <a:gd name="connsiteX1-43" fmla="*/ 1374775 w 1374775"/>
              <a:gd name="connsiteY1-44" fmla="*/ 0 h 720636"/>
              <a:gd name="connsiteX2-45" fmla="*/ 822325 w 1374775"/>
              <a:gd name="connsiteY2-46" fmla="*/ 720636 h 720636"/>
              <a:gd name="connsiteX3-47" fmla="*/ 0 w 1374775"/>
              <a:gd name="connsiteY3-48" fmla="*/ 720000 h 720636"/>
              <a:gd name="connsiteX4-49" fmla="*/ 0 w 1374775"/>
              <a:gd name="connsiteY4-50" fmla="*/ 0 h 720636"/>
              <a:gd name="connsiteX0-51" fmla="*/ 0 w 1374775"/>
              <a:gd name="connsiteY0-52" fmla="*/ 0 h 720636"/>
              <a:gd name="connsiteX1-53" fmla="*/ 1374775 w 1374775"/>
              <a:gd name="connsiteY1-54" fmla="*/ 0 h 720636"/>
              <a:gd name="connsiteX2-55" fmla="*/ 822325 w 1374775"/>
              <a:gd name="connsiteY2-56" fmla="*/ 720636 h 720636"/>
              <a:gd name="connsiteX3-57" fmla="*/ 0 w 1374775"/>
              <a:gd name="connsiteY3-58" fmla="*/ 720000 h 720636"/>
              <a:gd name="connsiteX4-59" fmla="*/ 0 w 1374775"/>
              <a:gd name="connsiteY4-60" fmla="*/ 0 h 720636"/>
              <a:gd name="connsiteX0-61" fmla="*/ 0 w 1374775"/>
              <a:gd name="connsiteY0-62" fmla="*/ 0 h 720636"/>
              <a:gd name="connsiteX1-63" fmla="*/ 1374775 w 1374775"/>
              <a:gd name="connsiteY1-64" fmla="*/ 0 h 720636"/>
              <a:gd name="connsiteX2-65" fmla="*/ 822325 w 1374775"/>
              <a:gd name="connsiteY2-66" fmla="*/ 720636 h 720636"/>
              <a:gd name="connsiteX3-67" fmla="*/ 0 w 1374775"/>
              <a:gd name="connsiteY3-68" fmla="*/ 720000 h 720636"/>
              <a:gd name="connsiteX4-69" fmla="*/ 0 w 1374775"/>
              <a:gd name="connsiteY4-70" fmla="*/ 0 h 720636"/>
              <a:gd name="connsiteX0-71" fmla="*/ 0 w 1374775"/>
              <a:gd name="connsiteY0-72" fmla="*/ 0 h 720636"/>
              <a:gd name="connsiteX1-73" fmla="*/ 1374775 w 1374775"/>
              <a:gd name="connsiteY1-74" fmla="*/ 0 h 720636"/>
              <a:gd name="connsiteX2-75" fmla="*/ 822325 w 1374775"/>
              <a:gd name="connsiteY2-76" fmla="*/ 720636 h 720636"/>
              <a:gd name="connsiteX3-77" fmla="*/ 0 w 1374775"/>
              <a:gd name="connsiteY3-78" fmla="*/ 720000 h 720636"/>
              <a:gd name="connsiteX4-79" fmla="*/ 0 w 1374775"/>
              <a:gd name="connsiteY4-80" fmla="*/ 0 h 72063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374775" h="720636">
                <a:moveTo>
                  <a:pt x="0" y="0"/>
                </a:moveTo>
                <a:lnTo>
                  <a:pt x="1374775" y="0"/>
                </a:lnTo>
                <a:cubicBezTo>
                  <a:pt x="1022351" y="211637"/>
                  <a:pt x="1105694" y="718550"/>
                  <a:pt x="822325" y="720636"/>
                </a:cubicBez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000" rtlCol="0" anchor="ctr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微软雅黑" panose="020B0503020204020204" pitchFamily="34" charset="-122"/>
                <a:cs typeface="+mn-cs"/>
              </a:rPr>
              <a:t>三</a:t>
            </a:r>
          </a:p>
        </p:txBody>
      </p:sp>
      <p:sp>
        <p:nvSpPr>
          <p:cNvPr id="13" name="矩形 47"/>
          <p:cNvSpPr/>
          <p:nvPr/>
        </p:nvSpPr>
        <p:spPr>
          <a:xfrm>
            <a:off x="4434581" y="4202459"/>
            <a:ext cx="4063933" cy="523220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225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国家情景数据体系建设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9904A8F-8CAA-64B4-9B68-BC3425979DED}"/>
              </a:ext>
            </a:extLst>
          </p:cNvPr>
          <p:cNvSpPr txBox="1">
            <a:spLocks/>
          </p:cNvSpPr>
          <p:nvPr/>
        </p:nvSpPr>
        <p:spPr>
          <a:xfrm>
            <a:off x="11647856" y="6492875"/>
            <a:ext cx="542692" cy="365125"/>
          </a:xfrm>
          <a:prstGeom prst="rect">
            <a:avLst/>
          </a:prstGeom>
        </p:spPr>
        <p:txBody>
          <a:bodyPr anchor="b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B0AA3D-93D0-7347-9C20-FCF20636792D}" type="slidenum">
              <a:rPr kumimoji="1" lang="zh-CN" altLang="en-US" sz="1100" b="1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1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D26A9-563E-30B3-1BA7-3FEDB0462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A-矩形 7">
            <a:extLst>
              <a:ext uri="{FF2B5EF4-FFF2-40B4-BE49-F238E27FC236}">
                <a16:creationId xmlns:a16="http://schemas.microsoft.com/office/drawing/2014/main" id="{24C34653-2631-F909-9436-3E8BC54CAF59}"/>
              </a:ext>
            </a:extLst>
          </p:cNvPr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91330" y="116632"/>
            <a:ext cx="1029097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Calibri" panose="020F07020304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ea"/>
                <a:sym typeface="+mn-lt"/>
              </a:rPr>
              <a:t>GCAM-China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ea"/>
                <a:sym typeface="+mn-lt"/>
              </a:rPr>
              <a:t> 辅助工具 </a:t>
            </a: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ea"/>
                <a:sym typeface="+mn-lt"/>
              </a:rPr>
              <a:t>–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ea"/>
                <a:sym typeface="+mn-lt"/>
              </a:rPr>
              <a:t> 高性能计算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/>
              <a:ea typeface="微软雅黑"/>
              <a:cs typeface="+mn-ea"/>
              <a:sym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B92677-87FC-ED55-BF70-D5389B4D1E76}"/>
              </a:ext>
            </a:extLst>
          </p:cNvPr>
          <p:cNvSpPr txBox="1"/>
          <p:nvPr/>
        </p:nvSpPr>
        <p:spPr>
          <a:xfrm>
            <a:off x="6409320" y="980735"/>
            <a:ext cx="5530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cs"/>
                <a:hlinkClick r:id="rId4"/>
              </a:rPr>
              <a:t>https://github.com/jerrysong0128/gcam-hpc-PKU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1F199B-AA59-075B-207C-66EA3F620091}"/>
              </a:ext>
            </a:extLst>
          </p:cNvPr>
          <p:cNvSpPr txBox="1"/>
          <p:nvPr/>
        </p:nvSpPr>
        <p:spPr>
          <a:xfrm>
            <a:off x="397951" y="5641619"/>
            <a:ext cx="4491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rPr>
              <a:t>宋京阳 </a:t>
            </a:r>
            <a:r>
              <a:rPr kumimoji="0" lang="en-US" altLang="zh-CN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jerrysong2025@stu.pku.edu.cn</a:t>
            </a:r>
            <a:endParaRPr kumimoji="0" lang="en-CN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E74F7F-3B17-95FC-AE71-A25874477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164" y="1031715"/>
            <a:ext cx="5852900" cy="432519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03A23C-4AC2-2026-A43C-B0957B13CC54}"/>
              </a:ext>
            </a:extLst>
          </p:cNvPr>
          <p:cNvSpPr txBox="1"/>
          <p:nvPr/>
        </p:nvSpPr>
        <p:spPr>
          <a:xfrm>
            <a:off x="6409320" y="1629395"/>
            <a:ext cx="57826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多情景并行，实现</a:t>
            </a:r>
            <a:r>
              <a:rPr kumimoji="0" lang="zh-CN" altLang="en-US" sz="2000" b="1" i="0" u="none" strike="noStrike" kern="1200" cap="none" spc="0" normalizeH="0" baseline="0" noProof="1">
                <a:ln>
                  <a:noFill/>
                </a:ln>
                <a:solidFill>
                  <a:srgbClr val="004AB8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规模化测试及情景阵列构建</a:t>
            </a:r>
            <a:endParaRPr kumimoji="0" lang="en-GB" altLang="zh-CN" sz="2000" b="1" i="0" u="none" strike="noStrike" kern="1200" cap="none" spc="0" normalizeH="0" baseline="0" noProof="1">
              <a:ln>
                <a:noFill/>
              </a:ln>
              <a:solidFill>
                <a:srgbClr val="004AB8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（适配任意版本</a:t>
            </a:r>
            <a:r>
              <a:rPr kumimoji="0" lang="en-US" altLang="zh-CN" sz="18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GCAM-core/GCAM-China</a:t>
            </a: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95F7BDC-99AB-5242-9AE2-10E8BCC501F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073"/>
          <a:stretch>
            <a:fillRect/>
          </a:stretch>
        </p:blipFill>
        <p:spPr>
          <a:xfrm>
            <a:off x="6360488" y="2306503"/>
            <a:ext cx="5627873" cy="2932657"/>
          </a:xfrm>
          <a:prstGeom prst="rect">
            <a:avLst/>
          </a:prstGeom>
        </p:spPr>
      </p:pic>
      <p:pic>
        <p:nvPicPr>
          <p:cNvPr id="25" name="Picture 2" descr="Csv - Free interface icons">
            <a:extLst>
              <a:ext uri="{FF2B5EF4-FFF2-40B4-BE49-F238E27FC236}">
                <a16:creationId xmlns:a16="http://schemas.microsoft.com/office/drawing/2014/main" id="{34FA252B-6FE9-691D-FDD5-1186D0C0D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6231" y="5515905"/>
            <a:ext cx="837823" cy="837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箭头: 右 11">
            <a:extLst>
              <a:ext uri="{FF2B5EF4-FFF2-40B4-BE49-F238E27FC236}">
                <a16:creationId xmlns:a16="http://schemas.microsoft.com/office/drawing/2014/main" id="{2D489C00-4818-3049-4C30-68DE67E5122C}"/>
              </a:ext>
            </a:extLst>
          </p:cNvPr>
          <p:cNvSpPr/>
          <p:nvPr/>
        </p:nvSpPr>
        <p:spPr>
          <a:xfrm rot="5400000">
            <a:off x="9506193" y="5399562"/>
            <a:ext cx="904602" cy="402510"/>
          </a:xfrm>
          <a:prstGeom prst="rightArrow">
            <a:avLst/>
          </a:prstGeom>
          <a:solidFill>
            <a:srgbClr val="004A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92A58F9-1F84-A805-0279-27842FE2A32A}"/>
              </a:ext>
            </a:extLst>
          </p:cNvPr>
          <p:cNvSpPr txBox="1"/>
          <p:nvPr/>
        </p:nvSpPr>
        <p:spPr>
          <a:xfrm>
            <a:off x="6498331" y="5356909"/>
            <a:ext cx="4968083" cy="8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rPr>
              <a:t>服务器端</a:t>
            </a:r>
            <a:r>
              <a:rPr kumimoji="0" lang="zh-CN" altLang="en-US" sz="18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rPr>
              <a:t>定制处理</a:t>
            </a: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rPr>
              <a:t>模型结果</a:t>
            </a:r>
            <a:endParaRPr kumimoji="0" lang="en-GB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 UI" panose="020B0503020204020204" pitchFamily="34" charset="-122"/>
              <a:ea typeface="Microsoft YaHei U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rPr>
              <a:t>合并为</a:t>
            </a:r>
            <a:r>
              <a:rPr kumimoji="0" lang="zh-CN" altLang="en-US" sz="18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rPr>
              <a:t>轻量级</a:t>
            </a:r>
            <a:r>
              <a:rPr kumimoji="0" lang="en-US" altLang="zh-CN" sz="18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rPr>
              <a:t>csv</a:t>
            </a:r>
            <a:r>
              <a:rPr kumimoji="0" lang="zh-CN" altLang="en-US" sz="18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rPr>
              <a:t>格式</a:t>
            </a:r>
            <a:endParaRPr kumimoji="0" lang="en-GB" altLang="zh-CN" sz="1800" b="1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 UI" panose="020B0503020204020204" pitchFamily="34" charset="-122"/>
              <a:ea typeface="Microsoft YaHei UI" panose="020B0503020204020204" pitchFamily="34" charset="-122"/>
              <a:cs typeface="+mn-cs"/>
            </a:endParaRPr>
          </a:p>
        </p:txBody>
      </p:sp>
      <p:sp>
        <p:nvSpPr>
          <p:cNvPr id="30" name="Slide Number Placeholder 3">
            <a:extLst>
              <a:ext uri="{FF2B5EF4-FFF2-40B4-BE49-F238E27FC236}">
                <a16:creationId xmlns:a16="http://schemas.microsoft.com/office/drawing/2014/main" id="{2D97F283-B94B-888C-BE10-1FBF43055643}"/>
              </a:ext>
            </a:extLst>
          </p:cNvPr>
          <p:cNvSpPr txBox="1">
            <a:spLocks/>
          </p:cNvSpPr>
          <p:nvPr/>
        </p:nvSpPr>
        <p:spPr>
          <a:xfrm>
            <a:off x="11647856" y="6492875"/>
            <a:ext cx="542692" cy="365125"/>
          </a:xfrm>
          <a:prstGeom prst="rect">
            <a:avLst/>
          </a:prstGeom>
        </p:spPr>
        <p:txBody>
          <a:bodyPr anchor="b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B0AA3D-93D0-7347-9C20-FCF20636792D}" type="slidenum">
              <a:rPr kumimoji="1" lang="zh-CN" altLang="en-US" sz="1100" b="1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" name="箭头: 右 11">
            <a:extLst>
              <a:ext uri="{FF2B5EF4-FFF2-40B4-BE49-F238E27FC236}">
                <a16:creationId xmlns:a16="http://schemas.microsoft.com/office/drawing/2014/main" id="{F25A4288-5763-AEFB-BD11-A7B8B2B5D47A}"/>
              </a:ext>
            </a:extLst>
          </p:cNvPr>
          <p:cNvSpPr/>
          <p:nvPr/>
        </p:nvSpPr>
        <p:spPr>
          <a:xfrm rot="5400000">
            <a:off x="11121976" y="3713131"/>
            <a:ext cx="671006" cy="445489"/>
          </a:xfrm>
          <a:prstGeom prst="rightArrow">
            <a:avLst/>
          </a:prstGeom>
          <a:solidFill>
            <a:srgbClr val="004A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3631328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工具总览：BUILD · RUN · QUERY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491330" y="980000"/>
            <a:ext cx="11209340" cy="4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400"/>
              </a:spcAft>
            </a:pPr>
            <a:r>
              <a:rPr lang="en-US" sz="1400" b="0">
                <a:solidFill>
                  <a:srgbClr val="595959"/>
                </a:solidFill>
                <a:latin typeface="Arial"/>
                <a:ea typeface="微软雅黑"/>
              </a:rPr>
              <a:t>讲解按 BUILD—RUN—QUERY 展开；但执行时必须先配置 QUERY，再提交 RUN。</a:t>
            </a:r>
          </a:p>
        </p:txBody>
      </p:sp>
      <p:sp>
        <p:nvSpPr>
          <p:cNvPr id="100004" name="TextBox 5"/>
          <p:cNvSpPr/>
          <p:nvPr/>
        </p:nvSpPr>
        <p:spPr>
          <a:xfrm xmlns:a="http://schemas.openxmlformats.org/drawingml/2006/main">
            <a:off x="491330" y="1720000"/>
            <a:ext cx="3549780" cy="262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2700">
            <a:solidFill>
              <a:srgbClr val="C9CDD4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701330" y="1870000"/>
            <a:ext cx="3129780" cy="4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>
                <a:solidFill>
                  <a:srgbClr val="004AB8"/>
                </a:solidFill>
                <a:latin typeface="Arial"/>
                <a:ea typeface="微软雅黑"/>
              </a:rPr>
              <a:t>① BUILD  编译</a:t>
            </a:r>
          </a:p>
        </p:txBody>
      </p:sp>
      <p:sp>
        <p:nvSpPr>
          <p:cNvPr id="100006" name="TextBox 7"/>
          <p:cNvSpPr txBox="1"/>
          <p:nvPr/>
        </p:nvSpPr>
        <p:spPr>
          <a:xfrm xmlns:a="http://schemas.openxmlformats.org/drawingml/2006/main">
            <a:off x="701330" y="2340000"/>
            <a:ext cx="3129780" cy="18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拉取 GCAM 源码，配置依赖库与环境变量，编译生成 gcam.exe。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/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同一套工具适配任意 gcam-core / gcam-china 版本，自动识别源码目录。</a:t>
            </a:r>
          </a:p>
        </p:txBody>
      </p:sp>
      <p:sp>
        <p:nvSpPr>
          <p:cNvPr id="100007" name="TextBox 8"/>
          <p:cNvSpPr/>
          <p:nvPr/>
        </p:nvSpPr>
        <p:spPr>
          <a:xfrm xmlns:a="http://schemas.openxmlformats.org/drawingml/2006/main">
            <a:off x="4321110" y="1720000"/>
            <a:ext cx="3549780" cy="262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2700">
            <a:solidFill>
              <a:srgbClr val="C9CDD4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08" name="TextBox 9"/>
          <p:cNvSpPr txBox="1"/>
          <p:nvPr/>
        </p:nvSpPr>
        <p:spPr>
          <a:xfrm xmlns:a="http://schemas.openxmlformats.org/drawingml/2006/main">
            <a:off x="4531110" y="1870000"/>
            <a:ext cx="3129780" cy="4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>
                <a:solidFill>
                  <a:srgbClr val="004AB8"/>
                </a:solidFill>
                <a:latin typeface="Arial"/>
                <a:ea typeface="微软雅黑"/>
              </a:rPr>
              <a:t>② RUN  运行</a:t>
            </a:r>
          </a:p>
        </p:txBody>
      </p:sp>
      <p:sp>
        <p:nvSpPr>
          <p:cNvPr id="100009" name="TextBox 10"/>
          <p:cNvSpPr txBox="1"/>
          <p:nvPr/>
        </p:nvSpPr>
        <p:spPr>
          <a:xfrm xmlns:a="http://schemas.openxmlformats.org/drawingml/2006/main">
            <a:off x="4531110" y="2340000"/>
            <a:ext cx="3129780" cy="18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master.sh 同步预配置 QUERY、生成情景并提交作业；每个情景运行后立即执行同一组查询。</a:t>
            </a:r>
          </a:p>
        </p:txBody>
      </p:sp>
      <p:sp>
        <p:nvSpPr>
          <p:cNvPr id="100010" name="TextBox 11"/>
          <p:cNvSpPr/>
          <p:nvPr/>
        </p:nvSpPr>
        <p:spPr>
          <a:xfrm xmlns:a="http://schemas.openxmlformats.org/drawingml/2006/main">
            <a:off x="8150890" y="1720000"/>
            <a:ext cx="3549780" cy="262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2700">
            <a:solidFill>
              <a:srgbClr val="C9CDD4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11" name="TextBox 12"/>
          <p:cNvSpPr txBox="1"/>
          <p:nvPr/>
        </p:nvSpPr>
        <p:spPr>
          <a:xfrm xmlns:a="http://schemas.openxmlformats.org/drawingml/2006/main">
            <a:off x="8360890" y="1870000"/>
            <a:ext cx="3129780" cy="4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>
                <a:solidFill>
                  <a:srgbClr val="004AB8"/>
                </a:solidFill>
                <a:latin typeface="Arial"/>
                <a:ea typeface="微软雅黑"/>
              </a:rPr>
              <a:t>③ QUERY  查询逻辑</a:t>
            </a:r>
          </a:p>
        </p:txBody>
      </p:sp>
      <p:sp>
        <p:nvSpPr>
          <p:cNvPr id="100012" name="TextBox 13"/>
          <p:cNvSpPr txBox="1"/>
          <p:nvPr/>
        </p:nvSpPr>
        <p:spPr>
          <a:xfrm xmlns:a="http://schemas.openxmlformats.org/drawingml/2006/main">
            <a:off x="8360890" y="2340000"/>
            <a:ext cx="3129780" cy="18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QUERY 不是 RUN 后再设置：查询 XML 须提前写好；所有情景查询 CSV 最终自动合并为一个文件。</a:t>
            </a:r>
          </a:p>
        </p:txBody>
      </p:sp>
      <p:sp>
        <p:nvSpPr>
          <p:cNvPr id="100013" name="TextBox 14"/>
          <p:cNvSpPr txBox="1"/>
          <p:nvPr/>
        </p:nvSpPr>
        <p:spPr>
          <a:xfrm xmlns:a="http://schemas.openxmlformats.org/drawingml/2006/main">
            <a:off x="491330" y="4590000"/>
            <a:ext cx="11209340" cy="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两个关键环境变量</a:t>
            </a:r>
          </a:p>
        </p:txBody>
      </p:sp>
      <p:sp>
        <p:nvSpPr>
          <p:cNvPr id="100014" name="TextBox 15"/>
          <p:cNvSpPr txBox="1"/>
          <p:nvPr/>
        </p:nvSpPr>
        <p:spPr>
          <a:xfrm xmlns:a="http://schemas.openxmlformats.org/drawingml/2006/main">
            <a:off x="491330" y="4950000"/>
            <a:ext cx="11209340" cy="6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400" b="0">
                <a:solidFill>
                  <a:srgbClr val="1A1A1A"/>
                </a:solidFill>
                <a:latin typeface="Consolas"/>
                <a:ea typeface="Consolas"/>
              </a:rPr>
              <a:t>GCAM_WORKSPACE       # 编译期使用，指向仓库根目录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400" b="0">
                <a:solidFill>
                  <a:srgbClr val="1A1A1A"/>
                </a:solidFill>
                <a:latin typeface="Consolas"/>
                <a:ea typeface="Consolas"/>
              </a:rPr>
              <a:t>GCAM_HPC_WORKSPACE   # 运行期使用，指向同一仓库根目录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仓库目录结构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100018" name="TextBox 4"/>
          <p:cNvSpPr txBox="1"/>
          <p:nvPr/>
        </p:nvSpPr>
        <p:spPr>
          <a:xfrm xmlns:a="http://schemas.openxmlformats.org/drawingml/2006/main">
            <a:off x="491330" y="980000"/>
            <a:ext cx="11209340" cy="4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600" b="0">
                <a:solidFill>
                  <a:srgbClr val="595959"/>
                </a:solidFill>
                <a:latin typeface="Arial"/>
                <a:ea typeface="微软雅黑"/>
              </a:rPr>
              <a:t>所有脚本围绕以下目录组织，理解目录职责是理解操作流程的前提。</a:t>
            </a:r>
          </a:p>
        </p:txBody>
      </p:sp>
      <p:sp>
        <p:nvSpPr>
          <p:cNvPr id="100019" name="TextBox 5"/>
          <p:cNvSpPr txBox="1"/>
          <p:nvPr/>
        </p:nvSpPr>
        <p:spPr>
          <a:xfrm xmlns:a="http://schemas.openxmlformats.org/drawingml/2006/main">
            <a:off x="491330" y="1500000"/>
            <a:ext cx="11209340" cy="305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gcam-hpc-PKU/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├─ gcam-core/                     GCAM 核心源码与编译产物 (exe/gcam.exe)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├─ gcam-hpc-tools/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│   ├─ gcam_workspace.setup       运行期环境变量入口（导出所有路径）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│   ├─ master.sh                  运行主控脚本：同步 → 排列 → 提交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│   ├─ build-tools/               编译配置、依赖库 (jars, eigen) 与站点 profile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│   ├─ run-tools/                 提交、情景排列 (permutator) 与结果合并脚本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│   ├─ configuration-sets/        默认配置文件与 batch XML 示例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│   └─ query-tools/               查询生成器与用户查询 XML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└─ gcam-scratch/                  运行期临时空间：中间文件与输出</a:t>
            </a:r>
          </a:p>
        </p:txBody>
      </p:sp>
      <p:sp>
        <p:nvSpPr>
          <p:cNvPr id="100020" name="TextBox 6"/>
          <p:cNvSpPr txBox="1"/>
          <p:nvPr/>
        </p:nvSpPr>
        <p:spPr>
          <a:xfrm xmlns:a="http://schemas.openxmlformats.org/drawingml/2006/main">
            <a:off x="491330" y="4720000"/>
            <a:ext cx="11209340" cy="4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400" b="0">
                <a:solidFill>
                  <a:srgbClr val="595959"/>
                </a:solidFill>
                <a:latin typeface="Arial"/>
                <a:ea typeface="微软雅黑"/>
              </a:rPr>
              <a:t>编译期 GCAM_WORKSPACE 与运行期 GCAM_HPC_WORKSPACE 均指向仓库根目录 gcam-hpc-PKU/。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环境准备：克隆仓库与配置工作区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6</a:t>
            </a:r>
          </a:p>
        </p:txBody>
      </p:sp>
      <p:sp>
        <p:nvSpPr>
          <p:cNvPr id="100024" name="TextBox 4"/>
          <p:cNvSpPr txBox="1"/>
          <p:nvPr/>
        </p:nvSpPr>
        <p:spPr>
          <a:xfrm xmlns:a="http://schemas.openxmlformats.org/drawingml/2006/main">
            <a:off x="491330" y="104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1 · 克隆仓库并拉取子模块</a:t>
            </a:r>
          </a:p>
        </p:txBody>
      </p:sp>
      <p:sp>
        <p:nvSpPr>
          <p:cNvPr id="100025" name="TextBox 5"/>
          <p:cNvSpPr txBox="1"/>
          <p:nvPr/>
        </p:nvSpPr>
        <p:spPr>
          <a:xfrm xmlns:a="http://schemas.openxmlformats.org/drawingml/2006/main">
            <a:off x="491330" y="1390000"/>
            <a:ext cx="11209340" cy="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git clone https://github.com/jerrysong0128/gcam-hpc-PKU.git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cd gcam-hpc-PKU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git submodule update --init --recursive</a:t>
            </a:r>
          </a:p>
        </p:txBody>
      </p:sp>
      <p:sp>
        <p:nvSpPr>
          <p:cNvPr id="100026" name="TextBox 6"/>
          <p:cNvSpPr txBox="1"/>
          <p:nvPr/>
        </p:nvSpPr>
        <p:spPr>
          <a:xfrm xmlns:a="http://schemas.openxmlformats.org/drawingml/2006/main">
            <a:off x="491330" y="238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2 · 获取 GCAM 源码（按 variant 下载；工作区自动识别目录）</a:t>
            </a:r>
          </a:p>
        </p:txBody>
      </p:sp>
      <p:sp>
        <p:nvSpPr>
          <p:cNvPr id="100027" name="TextBox 7"/>
          <p:cNvSpPr txBox="1"/>
          <p:nvPr/>
        </p:nvSpPr>
        <p:spPr>
          <a:xfrm xmlns:a="http://schemas.openxmlformats.org/drawingml/2006/main">
            <a:off x="491330" y="2730000"/>
            <a:ext cx="11209340" cy="6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850" b="0">
                <a:solidFill>
                  <a:srgbClr val="1A1A1A"/>
                </a:solidFill>
                <a:latin typeface="Consolas"/>
                <a:ea typeface="Consolas"/>
              </a:rPr>
              <a:t>./gcam-hpc-tools/fetch_gcam_source.sh --variant core --version gcam-v9.1   # v9.0/v8.11/v8.2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850" b="0">
                <a:solidFill>
                  <a:srgbClr val="1A1A1A"/>
                </a:solidFill>
                <a:latin typeface="Consolas"/>
                <a:ea typeface="Consolas"/>
              </a:rPr>
              <a:t>./gcam-hpc-tools/fetch_gcam_source.sh --variant china --version gcam-china-v8   # v7.1/v7/v6</a:t>
            </a:r>
          </a:p>
        </p:txBody>
      </p:sp>
      <p:sp>
        <p:nvSpPr>
          <p:cNvPr id="100028" name="TextBox 8"/>
          <p:cNvSpPr txBox="1"/>
          <p:nvPr/>
        </p:nvSpPr>
        <p:spPr>
          <a:xfrm xmlns:a="http://schemas.openxmlformats.org/drawingml/2006/main">
            <a:off x="491330" y="348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3 · 编辑并 source 工作区设置文件</a:t>
            </a:r>
          </a:p>
        </p:txBody>
      </p:sp>
      <p:sp>
        <p:nvSpPr>
          <p:cNvPr id="100029" name="TextBox 9"/>
          <p:cNvSpPr txBox="1"/>
          <p:nvPr/>
        </p:nvSpPr>
        <p:spPr>
          <a:xfrm xmlns:a="http://schemas.openxmlformats.org/drawingml/2006/main">
            <a:off x="491330" y="3830000"/>
            <a:ext cx="11209340" cy="13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# 编辑 gcam-hpc-tools/gcam_workspace.setup 中两行：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export GCAM_HPC_WORKSPACE=/absolute/path/to/gcam-hpc-PKU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export GCAM_HPC_CLUSTER=wm2          # 或 wm1 / 自定义 profile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/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source $GCAM_HPC_WORKSPACE/gcam-hpc-tools/gcam_workspace.setup</a:t>
            </a:r>
          </a:p>
        </p:txBody>
      </p:sp>
      <p:sp>
        <p:nvSpPr>
          <p:cNvPr id="100030" name="TextBox 10"/>
          <p:cNvSpPr txBox="1"/>
          <p:nvPr/>
        </p:nvSpPr>
        <p:spPr>
          <a:xfrm xmlns:a="http://schemas.openxmlformats.org/drawingml/2006/main">
            <a:off x="491330" y="5280000"/>
            <a:ext cx="11209340" cy="5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50" b="0">
                <a:solidFill>
                  <a:srgbClr val="595959"/>
                </a:solidFill>
                <a:latin typeface="Arial"/>
                <a:ea typeface="微软雅黑"/>
              </a:rPr>
              <a:t>source 后一次性导出 GCAMDIR、TOOLDIR、SCRATCHDIR、BOOST_*、JAVA_*、TBB_*、EIGEN_INCLUDE、JARS_LIB、SLURM_TEMPLATE，无需其它 export。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① BUILD：编译生成 gcam.exe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7</a:t>
            </a:r>
          </a:p>
        </p:txBody>
      </p:sp>
      <p:sp>
        <p:nvSpPr>
          <p:cNvPr id="100034" name="TextBox 4"/>
          <p:cNvSpPr/>
          <p:nvPr/>
        </p:nvSpPr>
        <p:spPr>
          <a:xfrm xmlns:a="http://schemas.openxmlformats.org/drawingml/2006/main">
            <a:off x="491330" y="1020000"/>
            <a:ext cx="5464670" cy="118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2700">
            <a:solidFill>
              <a:srgbClr val="C9CDD4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35" name="TextBox 5"/>
          <p:cNvSpPr txBox="1"/>
          <p:nvPr/>
        </p:nvSpPr>
        <p:spPr>
          <a:xfrm xmlns:a="http://schemas.openxmlformats.org/drawingml/2006/main">
            <a:off x="701330" y="1170000"/>
            <a:ext cx="5044670" cy="4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>
                <a:solidFill>
                  <a:srgbClr val="004AB8"/>
                </a:solidFill>
                <a:latin typeface="Arial"/>
                <a:ea typeface="微软雅黑"/>
              </a:rPr>
              <a:t>WM2 · 本地依赖</a:t>
            </a:r>
          </a:p>
        </p:txBody>
      </p:sp>
      <p:sp>
        <p:nvSpPr>
          <p:cNvPr id="100036" name="TextBox 6"/>
          <p:cNvSpPr txBox="1"/>
          <p:nvPr/>
        </p:nvSpPr>
        <p:spPr>
          <a:xfrm xmlns:a="http://schemas.openxmlformats.org/drawingml/2006/main">
            <a:off x="701330" y="1640000"/>
            <a:ext cx="5044670" cy="4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gcam-hpc-build-relative-libs-wm2.setup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export GCAM_WORKSPACE=…</a:t>
            </a:r>
          </a:p>
        </p:txBody>
      </p:sp>
      <p:sp>
        <p:nvSpPr>
          <p:cNvPr id="100037" name="TextBox 7"/>
          <p:cNvSpPr/>
          <p:nvPr/>
        </p:nvSpPr>
        <p:spPr>
          <a:xfrm xmlns:a="http://schemas.openxmlformats.org/drawingml/2006/main">
            <a:off x="6236000" y="1020000"/>
            <a:ext cx="5464670" cy="118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2700">
            <a:solidFill>
              <a:srgbClr val="C9CDD4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38" name="TextBox 8"/>
          <p:cNvSpPr txBox="1"/>
          <p:nvPr/>
        </p:nvSpPr>
        <p:spPr>
          <a:xfrm xmlns:a="http://schemas.openxmlformats.org/drawingml/2006/main">
            <a:off x="6446000" y="1170000"/>
            <a:ext cx="5044670" cy="4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>
                <a:solidFill>
                  <a:srgbClr val="004AB8"/>
                </a:solidFill>
                <a:latin typeface="Arial"/>
                <a:ea typeface="微软雅黑"/>
              </a:rPr>
              <a:t>WM1 · 共享依赖</a:t>
            </a:r>
          </a:p>
        </p:txBody>
      </p:sp>
      <p:sp>
        <p:nvSpPr>
          <p:cNvPr id="100039" name="TextBox 9"/>
          <p:cNvSpPr txBox="1"/>
          <p:nvPr/>
        </p:nvSpPr>
        <p:spPr>
          <a:xfrm xmlns:a="http://schemas.openxmlformats.org/drawingml/2006/main">
            <a:off x="6446000" y="1640000"/>
            <a:ext cx="5044670" cy="4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gcam-hpc-build-shared-libs-wm1.setup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export GCAM_HPC_PKU_HOME=…</a:t>
            </a:r>
          </a:p>
        </p:txBody>
      </p:sp>
      <p:sp>
        <p:nvSpPr>
          <p:cNvPr id="100040" name="TextBox 10"/>
          <p:cNvSpPr txBox="1"/>
          <p:nvPr/>
        </p:nvSpPr>
        <p:spPr>
          <a:xfrm xmlns:a="http://schemas.openxmlformats.org/drawingml/2006/main">
            <a:off x="491330" y="2260000"/>
            <a:ext cx="11209340" cy="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400" b="1">
                <a:solidFill>
                  <a:srgbClr val="B00020"/>
                </a:solidFill>
                <a:latin typeface="Arial"/>
                <a:ea typeface="微软雅黑"/>
              </a:rPr>
              <a:t>⚠ 两套配置的路径、模块与分区不同，不可混用。</a:t>
            </a:r>
          </a:p>
        </p:txBody>
      </p:sp>
      <p:sp>
        <p:nvSpPr>
          <p:cNvPr id="100041" name="TextBox 11"/>
          <p:cNvSpPr txBox="1"/>
          <p:nvPr/>
        </p:nvSpPr>
        <p:spPr>
          <a:xfrm xmlns:a="http://schemas.openxmlformats.org/drawingml/2006/main">
            <a:off x="491330" y="268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设置环境并编译（WM2 示例）</a:t>
            </a:r>
          </a:p>
        </p:txBody>
      </p:sp>
      <p:sp>
        <p:nvSpPr>
          <p:cNvPr id="100042" name="TextBox 12"/>
          <p:cNvSpPr txBox="1"/>
          <p:nvPr/>
        </p:nvSpPr>
        <p:spPr>
          <a:xfrm xmlns:a="http://schemas.openxmlformats.org/drawingml/2006/main">
            <a:off x="491330" y="3030000"/>
            <a:ext cx="11209340" cy="13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export GCAM_WORKSPACE=/path/to/gcam-hpc-PKU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source gcam-hpc-tools/build-tools/gcam-hpc-build-relative-libs-wm2.setup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cd gcam-core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make clean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>
                <a:solidFill>
                  <a:srgbClr val="1A1A1A"/>
                </a:solidFill>
                <a:latin typeface="Consolas"/>
                <a:ea typeface="Consolas"/>
              </a:rPr>
              <a:t>make gcam -j 8                # -j 依 CPU 配额调整</a:t>
            </a:r>
          </a:p>
        </p:txBody>
      </p:sp>
      <p:sp>
        <p:nvSpPr>
          <p:cNvPr id="100043" name="TextBox 13"/>
          <p:cNvSpPr txBox="1"/>
          <p:nvPr/>
        </p:nvSpPr>
        <p:spPr>
          <a:xfrm xmlns:a="http://schemas.openxmlformats.org/drawingml/2006/main">
            <a:off x="491330" y="462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编译成功标志</a:t>
            </a:r>
          </a:p>
        </p:txBody>
      </p:sp>
      <p:sp>
        <p:nvSpPr>
          <p:cNvPr id="100044" name="TextBox 14"/>
          <p:cNvSpPr txBox="1"/>
          <p:nvPr/>
        </p:nvSpPr>
        <p:spPr>
          <a:xfrm xmlns:a="http://schemas.openxmlformats.org/drawingml/2006/main">
            <a:off x="491330" y="4950000"/>
            <a:ext cx="1120934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gcam-core/exe/gcam.exe 存在  ·  make 打印 BUILD COMPLETED  ·  cvs/objects/build/linux 无新增错误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5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② RUN：用 master.sh 提交作业</a:t>
            </a:r>
          </a:p>
        </p:txBody>
      </p:sp>
      <p:sp>
        <p:nvSpPr>
          <p:cNvPr id="100046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7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8</a:t>
            </a:r>
          </a:p>
        </p:txBody>
      </p:sp>
      <p:sp>
        <p:nvSpPr>
          <p:cNvPr id="100048" name="TextBox 4"/>
          <p:cNvSpPr txBox="1"/>
          <p:nvPr/>
        </p:nvSpPr>
        <p:spPr>
          <a:xfrm xmlns:a="http://schemas.openxmlformats.org/drawingml/2006/main">
            <a:off x="491330" y="102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1 · 运行前检查：QUERY 已配置</a:t>
            </a:r>
          </a:p>
        </p:txBody>
      </p:sp>
      <p:sp>
        <p:nvSpPr>
          <p:cNvPr id="100049" name="TextBox 5"/>
          <p:cNvSpPr txBox="1"/>
          <p:nvPr/>
        </p:nvSpPr>
        <p:spPr>
          <a:xfrm xmlns:a="http://schemas.openxmlformats.org/drawingml/2006/main">
            <a:off x="491330" y="1370000"/>
            <a:ext cx="11209340" cy="6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0">
                <a:solidFill>
                  <a:srgbClr val="1A1A1A"/>
                </a:solidFill>
                <a:latin typeface="Consolas"/>
                <a:ea typeface="Consolas"/>
              </a:rPr>
              <a:t>test -f gcam-hpc-tools/query-tools/user_batch_queries/xmldb_batch.xml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0">
                <a:solidFill>
                  <a:srgbClr val="1A1A1A"/>
                </a:solidFill>
                <a:latin typeface="Consolas"/>
                <a:ea typeface="Consolas"/>
              </a:rPr>
              <a:t># 确认其中 &lt;queryFile&gt; 指向已生成的 output_queries_*.xml</a:t>
            </a:r>
          </a:p>
        </p:txBody>
      </p:sp>
      <p:sp>
        <p:nvSpPr>
          <p:cNvPr id="100050" name="TextBox 6"/>
          <p:cNvSpPr txBox="1"/>
          <p:nvPr/>
        </p:nvSpPr>
        <p:spPr>
          <a:xfrm xmlns:a="http://schemas.openxmlformats.org/drawingml/2006/main">
            <a:off x="491330" y="211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2 · source 环境并提交运行</a:t>
            </a:r>
          </a:p>
        </p:txBody>
      </p:sp>
      <p:sp>
        <p:nvSpPr>
          <p:cNvPr id="100051" name="TextBox 7"/>
          <p:cNvSpPr txBox="1"/>
          <p:nvPr/>
        </p:nvSpPr>
        <p:spPr>
          <a:xfrm xmlns:a="http://schemas.openxmlformats.org/drawingml/2006/main">
            <a:off x="491330" y="2460000"/>
            <a:ext cx="11209340" cy="9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bash gcam-hpc-tools/master.sh \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  configuration-sets/config/v82_default/v82_default_scenario_components.xml \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  configuration-sets/config/v82_default/v82_default_batch_2.xml</a:t>
            </a:r>
          </a:p>
        </p:txBody>
      </p:sp>
      <p:sp>
        <p:nvSpPr>
          <p:cNvPr id="100052" name="TextBox 8"/>
          <p:cNvSpPr txBox="1"/>
          <p:nvPr/>
        </p:nvSpPr>
        <p:spPr>
          <a:xfrm xmlns:a="http://schemas.openxmlformats.org/drawingml/2006/main">
            <a:off x="491330" y="356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3 · master.sh 交互式询问三个问题</a:t>
            </a:r>
          </a:p>
        </p:txBody>
      </p:sp>
      <p:sp>
        <p:nvSpPr>
          <p:cNvPr id="100053" name="TextBox 9"/>
          <p:cNvSpPr txBox="1"/>
          <p:nvPr/>
        </p:nvSpPr>
        <p:spPr>
          <a:xfrm xmlns:a="http://schemas.openxmlformats.org/drawingml/2006/main">
            <a:off x="491330" y="3910000"/>
            <a:ext cx="11209340" cy="15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① 是否生成情景排列 (permutations)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② 同时运行多少个任务 (并行 task 数)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③ 是否立即用 sbatch 提交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注意：提交后每个情景都会执行预先写好的 QUERY，不能等 RUN 完成后再配置。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54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② RUN 逻辑：逐情景查询，最后统一合并</a:t>
            </a:r>
          </a:p>
        </p:txBody>
      </p:sp>
      <p:sp>
        <p:nvSpPr>
          <p:cNvPr id="100055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6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9</a:t>
            </a:r>
          </a:p>
        </p:txBody>
      </p:sp>
      <p:sp>
        <p:nvSpPr>
          <p:cNvPr id="100057" name="TextBox 4"/>
          <p:cNvSpPr/>
          <p:nvPr/>
        </p:nvSpPr>
        <p:spPr>
          <a:xfrm xmlns:a="http://schemas.openxmlformats.org/drawingml/2006/main">
            <a:off x="491330" y="1620000"/>
            <a:ext cx="2041868" cy="156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5875">
            <a:solidFill>
              <a:srgbClr val="004AB8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58" name="TextBox 5"/>
          <p:cNvSpPr txBox="1"/>
          <p:nvPr/>
        </p:nvSpPr>
        <p:spPr>
          <a:xfrm xmlns:a="http://schemas.openxmlformats.org/drawingml/2006/main">
            <a:off x="491330" y="1740000"/>
            <a:ext cx="2041868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100059" name="TextBox 6"/>
          <p:cNvSpPr txBox="1"/>
          <p:nvPr/>
        </p:nvSpPr>
        <p:spPr>
          <a:xfrm xmlns:a="http://schemas.openxmlformats.org/drawingml/2006/main">
            <a:off x="491330" y="2090000"/>
            <a:ext cx="2041868" cy="3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0000"/>
                </a:solidFill>
                <a:latin typeface="Arial"/>
                <a:ea typeface="微软雅黑"/>
              </a:rPr>
              <a:t>同步输入</a:t>
            </a:r>
          </a:p>
        </p:txBody>
      </p:sp>
      <p:sp>
        <p:nvSpPr>
          <p:cNvPr id="100060" name="TextBox 7"/>
          <p:cNvSpPr txBox="1"/>
          <p:nvPr/>
        </p:nvSpPr>
        <p:spPr>
          <a:xfrm xmlns:a="http://schemas.openxmlformats.org/drawingml/2006/main">
            <a:off x="581330" y="2470000"/>
            <a:ext cx="1861868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444444"/>
                </a:solidFill>
                <a:latin typeface="Arial"/>
                <a:ea typeface="微软雅黑"/>
              </a:rPr>
              <a:t>gcam-core/input 与 user_batch_queries 同步到 scratch</a:t>
            </a:r>
          </a:p>
        </p:txBody>
      </p:sp>
      <p:sp>
        <p:nvSpPr>
          <p:cNvPr id="100061" name="TextBox 8"/>
          <p:cNvSpPr txBox="1"/>
          <p:nvPr/>
        </p:nvSpPr>
        <p:spPr>
          <a:xfrm xmlns:a="http://schemas.openxmlformats.org/drawingml/2006/main">
            <a:off x="2558198" y="2140000"/>
            <a:ext cx="220000" cy="4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2200" b="1">
                <a:solidFill>
                  <a:srgbClr val="004AB8"/>
                </a:solidFill>
                <a:latin typeface="Arial"/>
                <a:ea typeface="微软雅黑"/>
              </a:rPr>
              <a:t>→</a:t>
            </a:r>
          </a:p>
        </p:txBody>
      </p:sp>
      <p:sp>
        <p:nvSpPr>
          <p:cNvPr id="100062" name="TextBox 9"/>
          <p:cNvSpPr/>
          <p:nvPr/>
        </p:nvSpPr>
        <p:spPr>
          <a:xfrm xmlns:a="http://schemas.openxmlformats.org/drawingml/2006/main">
            <a:off x="2783198" y="1620000"/>
            <a:ext cx="2041868" cy="156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5875">
            <a:solidFill>
              <a:srgbClr val="004AB8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63" name="TextBox 10"/>
          <p:cNvSpPr txBox="1"/>
          <p:nvPr/>
        </p:nvSpPr>
        <p:spPr>
          <a:xfrm xmlns:a="http://schemas.openxmlformats.org/drawingml/2006/main">
            <a:off x="2783198" y="1740000"/>
            <a:ext cx="2041868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2</a:t>
            </a:r>
          </a:p>
        </p:txBody>
      </p:sp>
      <p:sp>
        <p:nvSpPr>
          <p:cNvPr id="100064" name="TextBox 11"/>
          <p:cNvSpPr txBox="1"/>
          <p:nvPr/>
        </p:nvSpPr>
        <p:spPr>
          <a:xfrm xmlns:a="http://schemas.openxmlformats.org/drawingml/2006/main">
            <a:off x="2783198" y="2090000"/>
            <a:ext cx="2041868" cy="3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0000"/>
                </a:solidFill>
                <a:latin typeface="Arial"/>
                <a:ea typeface="微软雅黑"/>
              </a:rPr>
              <a:t>生成情景</a:t>
            </a:r>
          </a:p>
        </p:txBody>
      </p:sp>
      <p:sp>
        <p:nvSpPr>
          <p:cNvPr id="100065" name="TextBox 12"/>
          <p:cNvSpPr txBox="1"/>
          <p:nvPr/>
        </p:nvSpPr>
        <p:spPr>
          <a:xfrm xmlns:a="http://schemas.openxmlformats.org/drawingml/2006/main">
            <a:off x="2873198" y="2470000"/>
            <a:ext cx="1861868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444444"/>
                </a:solidFill>
                <a:latin typeface="Arial"/>
                <a:ea typeface="微软雅黑"/>
              </a:rPr>
              <a:t>permutator.sh 由 batch XML 展开每个情景的配置</a:t>
            </a:r>
          </a:p>
        </p:txBody>
      </p:sp>
      <p:sp>
        <p:nvSpPr>
          <p:cNvPr id="100066" name="TextBox 13"/>
          <p:cNvSpPr txBox="1"/>
          <p:nvPr/>
        </p:nvSpPr>
        <p:spPr>
          <a:xfrm xmlns:a="http://schemas.openxmlformats.org/drawingml/2006/main">
            <a:off x="4850066" y="2140000"/>
            <a:ext cx="220000" cy="4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2200" b="1">
                <a:solidFill>
                  <a:srgbClr val="004AB8"/>
                </a:solidFill>
                <a:latin typeface="Arial"/>
                <a:ea typeface="微软雅黑"/>
              </a:rPr>
              <a:t>→</a:t>
            </a:r>
          </a:p>
        </p:txBody>
      </p:sp>
      <p:sp>
        <p:nvSpPr>
          <p:cNvPr id="100067" name="TextBox 14"/>
          <p:cNvSpPr/>
          <p:nvPr/>
        </p:nvSpPr>
        <p:spPr>
          <a:xfrm xmlns:a="http://schemas.openxmlformats.org/drawingml/2006/main">
            <a:off x="5075066" y="1620000"/>
            <a:ext cx="2041868" cy="156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5875">
            <a:solidFill>
              <a:srgbClr val="004AB8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68" name="TextBox 15"/>
          <p:cNvSpPr txBox="1"/>
          <p:nvPr/>
        </p:nvSpPr>
        <p:spPr>
          <a:xfrm xmlns:a="http://schemas.openxmlformats.org/drawingml/2006/main">
            <a:off x="5075066" y="1740000"/>
            <a:ext cx="2041868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3</a:t>
            </a:r>
          </a:p>
        </p:txBody>
      </p:sp>
      <p:sp>
        <p:nvSpPr>
          <p:cNvPr id="100069" name="TextBox 16"/>
          <p:cNvSpPr txBox="1"/>
          <p:nvPr/>
        </p:nvSpPr>
        <p:spPr>
          <a:xfrm xmlns:a="http://schemas.openxmlformats.org/drawingml/2006/main">
            <a:off x="5075066" y="2090000"/>
            <a:ext cx="2041868" cy="3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0000"/>
                </a:solidFill>
                <a:latin typeface="Arial"/>
                <a:ea typeface="微软雅黑"/>
              </a:rPr>
              <a:t>生成作业</a:t>
            </a:r>
          </a:p>
        </p:txBody>
      </p:sp>
      <p:sp>
        <p:nvSpPr>
          <p:cNvPr id="100070" name="TextBox 17"/>
          <p:cNvSpPr txBox="1"/>
          <p:nvPr/>
        </p:nvSpPr>
        <p:spPr>
          <a:xfrm xmlns:a="http://schemas.openxmlformats.org/drawingml/2006/main">
            <a:off x="5165066" y="2470000"/>
            <a:ext cx="1861868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444444"/>
                </a:solidFill>
                <a:latin typeface="Arial"/>
                <a:ea typeface="微软雅黑"/>
              </a:rPr>
              <a:t>按 run-template 模板生成 gcam.slurm</a:t>
            </a:r>
          </a:p>
        </p:txBody>
      </p:sp>
      <p:sp>
        <p:nvSpPr>
          <p:cNvPr id="100071" name="TextBox 18"/>
          <p:cNvSpPr txBox="1"/>
          <p:nvPr/>
        </p:nvSpPr>
        <p:spPr>
          <a:xfrm xmlns:a="http://schemas.openxmlformats.org/drawingml/2006/main">
            <a:off x="7141934" y="2140000"/>
            <a:ext cx="220000" cy="4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2200" b="1">
                <a:solidFill>
                  <a:srgbClr val="004AB8"/>
                </a:solidFill>
                <a:latin typeface="Arial"/>
                <a:ea typeface="微软雅黑"/>
              </a:rPr>
              <a:t>→</a:t>
            </a:r>
          </a:p>
        </p:txBody>
      </p:sp>
      <p:sp>
        <p:nvSpPr>
          <p:cNvPr id="100072" name="TextBox 19"/>
          <p:cNvSpPr/>
          <p:nvPr/>
        </p:nvSpPr>
        <p:spPr>
          <a:xfrm xmlns:a="http://schemas.openxmlformats.org/drawingml/2006/main">
            <a:off x="7366934" y="1620000"/>
            <a:ext cx="2041868" cy="156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5875">
            <a:solidFill>
              <a:srgbClr val="004AB8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73" name="TextBox 20"/>
          <p:cNvSpPr txBox="1"/>
          <p:nvPr/>
        </p:nvSpPr>
        <p:spPr>
          <a:xfrm xmlns:a="http://schemas.openxmlformats.org/drawingml/2006/main">
            <a:off x="7366934" y="1740000"/>
            <a:ext cx="2041868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100074" name="TextBox 21"/>
          <p:cNvSpPr txBox="1"/>
          <p:nvPr/>
        </p:nvSpPr>
        <p:spPr>
          <a:xfrm xmlns:a="http://schemas.openxmlformats.org/drawingml/2006/main">
            <a:off x="7366934" y="2090000"/>
            <a:ext cx="2041868" cy="3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0000"/>
                </a:solidFill>
                <a:latin typeface="Arial"/>
                <a:ea typeface="微软雅黑"/>
              </a:rPr>
              <a:t>提交运行</a:t>
            </a:r>
          </a:p>
        </p:txBody>
      </p:sp>
      <p:sp>
        <p:nvSpPr>
          <p:cNvPr id="100075" name="TextBox 22"/>
          <p:cNvSpPr txBox="1"/>
          <p:nvPr/>
        </p:nvSpPr>
        <p:spPr>
          <a:xfrm xmlns:a="http://schemas.openxmlformats.org/drawingml/2006/main">
            <a:off x="7456934" y="2470000"/>
            <a:ext cx="1861868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444444"/>
                </a:solidFill>
                <a:latin typeface="Arial"/>
                <a:ea typeface="微软雅黑"/>
              </a:rPr>
              <a:t>逐情景执行 GCAM，再跑预配置 QUERY</a:t>
            </a:r>
          </a:p>
        </p:txBody>
      </p:sp>
      <p:sp>
        <p:nvSpPr>
          <p:cNvPr id="100076" name="TextBox 23"/>
          <p:cNvSpPr txBox="1"/>
          <p:nvPr/>
        </p:nvSpPr>
        <p:spPr>
          <a:xfrm xmlns:a="http://schemas.openxmlformats.org/drawingml/2006/main">
            <a:off x="9433802" y="2140000"/>
            <a:ext cx="220000" cy="4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2200" b="1">
                <a:solidFill>
                  <a:srgbClr val="004AB8"/>
                </a:solidFill>
                <a:latin typeface="Arial"/>
                <a:ea typeface="微软雅黑"/>
              </a:rPr>
              <a:t>→</a:t>
            </a:r>
          </a:p>
        </p:txBody>
      </p:sp>
      <p:sp>
        <p:nvSpPr>
          <p:cNvPr id="100077" name="TextBox 24"/>
          <p:cNvSpPr/>
          <p:nvPr/>
        </p:nvSpPr>
        <p:spPr>
          <a:xfrm xmlns:a="http://schemas.openxmlformats.org/drawingml/2006/main">
            <a:off x="9658802" y="1620000"/>
            <a:ext cx="2041868" cy="1560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15875">
            <a:solidFill>
              <a:srgbClr val="004AB8"/>
            </a:solidFill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/>
        </p:txBody>
      </p:sp>
      <p:sp>
        <p:nvSpPr>
          <p:cNvPr id="100078" name="TextBox 25"/>
          <p:cNvSpPr txBox="1"/>
          <p:nvPr/>
        </p:nvSpPr>
        <p:spPr>
          <a:xfrm xmlns:a="http://schemas.openxmlformats.org/drawingml/2006/main">
            <a:off x="9658802" y="1740000"/>
            <a:ext cx="2041868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100079" name="TextBox 26"/>
          <p:cNvSpPr txBox="1"/>
          <p:nvPr/>
        </p:nvSpPr>
        <p:spPr>
          <a:xfrm xmlns:a="http://schemas.openxmlformats.org/drawingml/2006/main">
            <a:off x="9658802" y="2090000"/>
            <a:ext cx="2041868" cy="3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0000"/>
                </a:solidFill>
                <a:latin typeface="Arial"/>
                <a:ea typeface="微软雅黑"/>
              </a:rPr>
              <a:t>合并结果</a:t>
            </a:r>
          </a:p>
        </p:txBody>
      </p:sp>
      <p:sp>
        <p:nvSpPr>
          <p:cNvPr id="100080" name="TextBox 27"/>
          <p:cNvSpPr txBox="1"/>
          <p:nvPr/>
        </p:nvSpPr>
        <p:spPr>
          <a:xfrm xmlns:a="http://schemas.openxmlformats.org/drawingml/2006/main">
            <a:off x="9748802" y="2470000"/>
            <a:ext cx="1861868" cy="6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444444"/>
                </a:solidFill>
                <a:latin typeface="Arial"/>
                <a:ea typeface="微软雅黑"/>
              </a:rPr>
              <a:t>自动合并所有情景的查询 CSV</a:t>
            </a:r>
          </a:p>
        </p:txBody>
      </p:sp>
      <p:sp>
        <p:nvSpPr>
          <p:cNvPr id="100081" name="TextBox 28"/>
          <p:cNvSpPr txBox="1"/>
          <p:nvPr/>
        </p:nvSpPr>
        <p:spPr>
          <a:xfrm xmlns:a="http://schemas.openxmlformats.org/drawingml/2006/main">
            <a:off x="491330" y="356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关键点</a:t>
            </a:r>
          </a:p>
        </p:txBody>
      </p:sp>
      <p:sp>
        <p:nvSpPr>
          <p:cNvPr id="100082" name="TextBox 29"/>
          <p:cNvSpPr txBox="1"/>
          <p:nvPr/>
        </p:nvSpPr>
        <p:spPr>
          <a:xfrm xmlns:a="http://schemas.openxmlformats.org/drawingml/2006/main">
            <a:off x="491330" y="3900000"/>
            <a:ext cx="1120934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spcAft>
                <a:spcPts val="0"/>
              </a:spcAft>
            </a:pPr>
            <a:r>
              <a:rPr lang="en-US" sz="1500" b="0">
                <a:solidFill>
                  <a:srgbClr val="333333"/>
                </a:solidFill>
                <a:latin typeface="Arial"/>
                <a:ea typeface="微软雅黑"/>
              </a:rPr>
              <a:t>• 每个情景均执行一次 gcam.exe，随后执行同一份 xmldb_batch.xml 中预先写好的 QUERY</a:t>
            </a:r>
          </a:p>
          <a:p xmlns:a="http://schemas.openxmlformats.org/drawingml/2006/main">
            <a:pPr algn="l">
              <a:lnSpc>
                <a:spcPct val="140000"/>
              </a:lnSpc>
              <a:spcAft>
                <a:spcPts val="0"/>
              </a:spcAft>
            </a:pPr>
            <a:r>
              <a:rPr lang="en-US" sz="1500" b="0">
                <a:solidFill>
                  <a:srgbClr val="333333"/>
                </a:solidFill>
                <a:latin typeface="Arial"/>
                <a:ea typeface="微软雅黑"/>
              </a:rPr>
              <a:t>• master.sh 以 afterok 依赖提交 cat_queries.sh；全部情景成功后自动汇总为一个 CSV</a:t>
            </a:r>
          </a:p>
        </p:txBody>
      </p:sp>
      <p:sp>
        <p:nvSpPr>
          <p:cNvPr id="100083" name="TextBox 30"/>
          <p:cNvSpPr txBox="1"/>
          <p:nvPr/>
        </p:nvSpPr>
        <p:spPr>
          <a:xfrm xmlns:a="http://schemas.openxmlformats.org/drawingml/2006/main">
            <a:off x="491330" y="482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查看运行状态</a:t>
            </a:r>
          </a:p>
        </p:txBody>
      </p:sp>
      <p:sp>
        <p:nvSpPr>
          <p:cNvPr id="100084" name="TextBox 31"/>
          <p:cNvSpPr txBox="1"/>
          <p:nvPr/>
        </p:nvSpPr>
        <p:spPr>
          <a:xfrm xmlns:a="http://schemas.openxmlformats.org/drawingml/2006/main">
            <a:off x="491330" y="5170000"/>
            <a:ext cx="11209340" cy="6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squeue -u $(whoami)                      # 直接查看 Slurm 队列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bash gcam-hpc-tools/run-tools/watch_pbs.sh   # 轮询脚本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85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③ QUERY：配置在 RUN 前，执行在每个情景后</a:t>
            </a:r>
          </a:p>
        </p:txBody>
      </p:sp>
      <p:sp>
        <p:nvSpPr>
          <p:cNvPr id="100086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7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100088" name="TextBox 4"/>
          <p:cNvSpPr txBox="1"/>
          <p:nvPr/>
        </p:nvSpPr>
        <p:spPr>
          <a:xfrm xmlns:a="http://schemas.openxmlformats.org/drawingml/2006/main">
            <a:off x="491330" y="1010000"/>
            <a:ext cx="1120934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提交 RUN 前先生成查询 XML，并让 xmldb_batch.xml 指向它。运行时，每个 run_model.sh 任务在 gcam.exe 结束后调用 ModelInterface，执行这组预配置查询并导出 CSV。</a:t>
            </a:r>
          </a:p>
        </p:txBody>
      </p:sp>
      <p:pic>
        <p:nvPicPr>
          <p:cNvPr id="10008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33ff7bef845b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2571000" y="1720000"/>
            <a:ext cx="7050000" cy="4218787"/>
          </a:xfrm>
          <a:prstGeom xmlns:a="http://schemas.openxmlformats.org/drawingml/2006/main" prst="rect">
            <a:avLst/>
          </a:prstGeom>
        </p:spPr>
      </p:pic>
      <p:sp>
        <p:nvSpPr>
          <p:cNvPr id="100090" name="TextBox 5"/>
          <p:cNvSpPr txBox="1"/>
          <p:nvPr/>
        </p:nvSpPr>
        <p:spPr>
          <a:xfrm xmlns:a="http://schemas.openxmlformats.org/drawingml/2006/main">
            <a:off x="2571000" y="5968787"/>
            <a:ext cx="7050000" cy="3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00" b="0">
                <a:solidFill>
                  <a:srgbClr val="808080"/>
                </a:solidFill>
                <a:latin typeface="Arial"/>
                <a:ea typeface="微软雅黑"/>
              </a:rPr>
              <a:t>GCAM-PKU-HPC 查询流程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91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③ QUERY：生成 XML 并接入运行流程</a:t>
            </a:r>
          </a:p>
        </p:txBody>
      </p:sp>
      <p:sp>
        <p:nvSpPr>
          <p:cNvPr id="100092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3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100094" name="TextBox 4"/>
          <p:cNvSpPr txBox="1"/>
          <p:nvPr/>
        </p:nvSpPr>
        <p:spPr>
          <a:xfrm xmlns:a="http://schemas.openxmlformats.org/drawingml/2006/main">
            <a:off x="491330" y="1020000"/>
            <a:ext cx="605000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1 · 生成用户批量查询（二选一，等价）</a:t>
            </a:r>
          </a:p>
        </p:txBody>
      </p:sp>
      <p:sp>
        <p:nvSpPr>
          <p:cNvPr id="100095" name="TextBox 5"/>
          <p:cNvSpPr txBox="1"/>
          <p:nvPr/>
        </p:nvSpPr>
        <p:spPr>
          <a:xfrm xmlns:a="http://schemas.openxmlformats.org/drawingml/2006/main">
            <a:off x="491330" y="1370000"/>
            <a:ext cx="6050000" cy="9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1A1A1A"/>
                </a:solidFill>
                <a:latin typeface="Consolas"/>
                <a:ea typeface="Consolas"/>
              </a:rPr>
              <a:t>query-tools/batch_query_generator/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1A1A1A"/>
                </a:solidFill>
                <a:latin typeface="Consolas"/>
                <a:ea typeface="Consolas"/>
              </a:rPr>
              <a:t>  create_batch_query_generator.ipynb   # Notebook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1A1A1A"/>
                </a:solidFill>
                <a:latin typeface="Consolas"/>
                <a:ea typeface="Consolas"/>
              </a:rPr>
              <a:t>  create_batch_query_tools.py          # 脚本</a:t>
            </a:r>
          </a:p>
        </p:txBody>
      </p:sp>
      <p:sp>
        <p:nvSpPr>
          <p:cNvPr id="100096" name="TextBox 6"/>
          <p:cNvSpPr txBox="1"/>
          <p:nvPr/>
        </p:nvSpPr>
        <p:spPr>
          <a:xfrm xmlns:a="http://schemas.openxmlformats.org/drawingml/2006/main">
            <a:off x="491330" y="2400000"/>
            <a:ext cx="6050000" cy="11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spcAft>
                <a:spcPts val="0"/>
              </a:spcAft>
            </a:pPr>
            <a:r>
              <a:rPr lang="en-US" sz="1300" b="0">
                <a:solidFill>
                  <a:srgbClr val="333333"/>
                </a:solidFill>
                <a:latin typeface="Arial"/>
                <a:ea typeface="微软雅黑"/>
              </a:rPr>
              <a:t>关键函数：</a:t>
            </a:r>
          </a:p>
          <a:p xmlns:a="http://schemas.openxmlformats.org/drawingml/2006/main">
            <a:pPr algn="l">
              <a:lnSpc>
                <a:spcPct val="135000"/>
              </a:lnSpc>
              <a:spcAft>
                <a:spcPts val="0"/>
              </a:spcAft>
            </a:pPr>
            <a:r>
              <a:rPr lang="en-US" sz="1300" b="0">
                <a:solidFill>
                  <a:srgbClr val="333333"/>
                </a:solidFill>
                <a:latin typeface="Arial"/>
                <a:ea typeface="微软雅黑"/>
              </a:rPr>
              <a:t>read_regions_from_csv() · build_query_xml()</a:t>
            </a:r>
          </a:p>
          <a:p xmlns:a="http://schemas.openxmlformats.org/drawingml/2006/main">
            <a:pPr algn="l">
              <a:lnSpc>
                <a:spcPct val="135000"/>
              </a:lnSpc>
              <a:spcAft>
                <a:spcPts val="0"/>
              </a:spcAft>
            </a:pPr>
            <a:r>
              <a:rPr lang="en-US" sz="1300" b="0">
                <a:solidFill>
                  <a:srgbClr val="333333"/>
                </a:solidFill>
                <a:latin typeface="Arial"/>
                <a:ea typeface="微软雅黑"/>
              </a:rPr>
              <a:t>select_queries_and_regions()</a:t>
            </a:r>
          </a:p>
          <a:p xmlns:a="http://schemas.openxmlformats.org/drawingml/2006/main">
            <a:pPr algn="l">
              <a:lnSpc>
                <a:spcPct val="135000"/>
              </a:lnSpc>
              <a:spcAft>
                <a:spcPts val="0"/>
              </a:spcAft>
            </a:pPr>
            <a:r>
              <a:rPr lang="en-US" sz="1300" b="0">
                <a:solidFill>
                  <a:srgbClr val="333333"/>
                </a:solidFill>
                <a:latin typeface="Arial"/>
                <a:ea typeface="微软雅黑"/>
              </a:rPr>
              <a:t>→ 输出 output_queries_&lt;timestamp&gt;.xml</a:t>
            </a:r>
          </a:p>
        </p:txBody>
      </p:sp>
      <p:sp>
        <p:nvSpPr>
          <p:cNvPr id="100097" name="TextBox 7"/>
          <p:cNvSpPr txBox="1"/>
          <p:nvPr/>
        </p:nvSpPr>
        <p:spPr>
          <a:xfrm xmlns:a="http://schemas.openxmlformats.org/drawingml/2006/main">
            <a:off x="491330" y="3560000"/>
            <a:ext cx="6050000" cy="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400"/>
              </a:spcAft>
            </a:pPr>
            <a:r>
              <a:rPr lang="en-US" sz="1300" b="0">
                <a:solidFill>
                  <a:srgbClr val="595959"/>
                </a:solidFill>
                <a:latin typeface="Arial"/>
                <a:ea typeface="微软雅黑"/>
              </a:rPr>
              <a:t>微调时可直接编辑 queries_xml/Main_queries.xml 中的 &lt;supplyDemandQuery&gt; 条目。</a:t>
            </a:r>
          </a:p>
        </p:txBody>
      </p:sp>
      <p:pic>
        <p:nvPicPr>
          <p:cNvPr id="10009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65216dd1b4df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80670" y="1150000"/>
            <a:ext cx="4820000" cy="2490137"/>
          </a:xfrm>
          <a:prstGeom xmlns:a="http://schemas.openxmlformats.org/drawingml/2006/main" prst="rect">
            <a:avLst/>
          </a:prstGeom>
        </p:spPr>
      </p:pic>
      <p:sp>
        <p:nvSpPr>
          <p:cNvPr id="100099" name="TextBox 8"/>
          <p:cNvSpPr txBox="1"/>
          <p:nvPr/>
        </p:nvSpPr>
        <p:spPr>
          <a:xfrm xmlns:a="http://schemas.openxmlformats.org/drawingml/2006/main">
            <a:off x="6880670" y="3670137"/>
            <a:ext cx="48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200" b="0">
                <a:solidFill>
                  <a:srgbClr val="808080"/>
                </a:solidFill>
                <a:latin typeface="Arial"/>
                <a:ea typeface="微软雅黑"/>
              </a:rPr>
              <a:t>批量查询生成器 create_batch_query_generator</a:t>
            </a:r>
          </a:p>
        </p:txBody>
      </p:sp>
      <p:sp>
        <p:nvSpPr>
          <p:cNvPr id="100100" name="TextBox 9"/>
          <p:cNvSpPr txBox="1"/>
          <p:nvPr/>
        </p:nvSpPr>
        <p:spPr>
          <a:xfrm xmlns:a="http://schemas.openxmlformats.org/drawingml/2006/main">
            <a:off x="491330" y="438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2 · 让 xmldb_batch.xml 指向将被同步的查询文件</a:t>
            </a:r>
          </a:p>
        </p:txBody>
      </p:sp>
      <p:sp>
        <p:nvSpPr>
          <p:cNvPr id="100101" name="TextBox 10"/>
          <p:cNvSpPr txBox="1"/>
          <p:nvPr/>
        </p:nvSpPr>
        <p:spPr>
          <a:xfrm xmlns:a="http://schemas.openxmlformats.org/drawingml/2006/main">
            <a:off x="491330" y="4710000"/>
            <a:ext cx="11209340" cy="4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50" b="0">
                <a:solidFill>
                  <a:srgbClr val="333333"/>
                </a:solidFill>
                <a:latin typeface="Arial"/>
                <a:ea typeface="微软雅黑"/>
              </a:rPr>
              <a:t>master.sh 在提交前把 user_batch_queries/ 同步到 scratch/output/xmldb_queries/；&lt;queryFile&gt; 必须指向该目录内文件。</a:t>
            </a:r>
          </a:p>
        </p:txBody>
      </p:sp>
      <p:sp>
        <p:nvSpPr>
          <p:cNvPr id="100102" name="TextBox 11"/>
          <p:cNvSpPr txBox="1"/>
          <p:nvPr/>
        </p:nvSpPr>
        <p:spPr>
          <a:xfrm xmlns:a="http://schemas.openxmlformats.org/drawingml/2006/main">
            <a:off x="491330" y="5180000"/>
            <a:ext cx="11209340" cy="4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50" b="0">
                <a:solidFill>
                  <a:srgbClr val="1A1A1A"/>
                </a:solidFill>
                <a:latin typeface="Consolas"/>
                <a:ea typeface="Consolas"/>
              </a:rPr>
              <a:t>&lt;queryFile&gt;../output/xmldb_queries/output_queries_20251017_140554.xml&lt;/queryFile&gt;</a:t>
            </a: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103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输出位置与常见问题</a:t>
            </a:r>
          </a:p>
        </p:txBody>
      </p:sp>
      <p:sp>
        <p:nvSpPr>
          <p:cNvPr id="100104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5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100106" name="TextBox 4"/>
          <p:cNvSpPr txBox="1"/>
          <p:nvPr/>
        </p:nvSpPr>
        <p:spPr>
          <a:xfrm xmlns:a="http://schemas.openxmlformats.org/drawingml/2006/main">
            <a:off x="491330" y="102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输出目录</a:t>
            </a:r>
          </a:p>
        </p:txBody>
      </p:sp>
      <p:sp>
        <p:nvSpPr>
          <p:cNvPr id="100107" name="TextBox 5"/>
          <p:cNvSpPr txBox="1"/>
          <p:nvPr/>
        </p:nvSpPr>
        <p:spPr>
          <a:xfrm xmlns:a="http://schemas.openxmlformats.org/drawingml/2006/main">
            <a:off x="491330" y="1370000"/>
            <a:ext cx="11209340" cy="12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9525">
            <a:solidFill>
              <a:srgbClr val="D5D9DF"/>
            </a:solidFill>
          </a:ln>
        </p:spPr>
        <p:txBody>
          <a:bodyPr xmlns:a="http://schemas.openxmlformats.org/drawingml/2006/main" wrap="square" lIns="146304" tIns="146304" rIns="146304" bIns="146304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gcam-scratch/output/run_YYYYmmdd_HHMMSS/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├─ output_&lt;task&gt;.txt        # 各任务标准输出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├─ out_query_&lt;task&gt;/        # 各任务查询 CSV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1A1A1A"/>
                </a:solidFill>
                <a:latin typeface="Consolas"/>
                <a:ea typeface="Consolas"/>
              </a:rPr>
              <a:t>└─ Final_&lt;jobid&gt;.csv        # cat_queries.sh 合并的最终结果</a:t>
            </a:r>
          </a:p>
        </p:txBody>
      </p:sp>
      <p:sp>
        <p:nvSpPr>
          <p:cNvPr id="100108" name="TextBox 6"/>
          <p:cNvSpPr txBox="1"/>
          <p:nvPr/>
        </p:nvSpPr>
        <p:spPr>
          <a:xfrm xmlns:a="http://schemas.openxmlformats.org/drawingml/2006/main">
            <a:off x="491330" y="2820000"/>
            <a:ext cx="1120934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1">
                <a:solidFill>
                  <a:srgbClr val="004AB8"/>
                </a:solidFill>
                <a:latin typeface="Arial"/>
                <a:ea typeface="微软雅黑"/>
              </a:rPr>
              <a:t>常见问题</a:t>
            </a:r>
          </a:p>
        </p:txBody>
      </p:sp>
      <p:sp>
        <p:nvSpPr>
          <p:cNvPr id="100109" name="TextBox 7"/>
          <p:cNvSpPr txBox="1"/>
          <p:nvPr/>
        </p:nvSpPr>
        <p:spPr>
          <a:xfrm xmlns:a="http://schemas.openxmlformats.org/drawingml/2006/main">
            <a:off x="491330" y="3170000"/>
            <a:ext cx="11209340" cy="26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60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• gcam_workspace.setup / master.sh 仍指向作者的 /lustre/... 绝对路径，未改为本机路径</a:t>
            </a:r>
          </a:p>
          <a:p xmlns:a="http://schemas.openxmlformats.org/drawingml/2006/main">
            <a:pPr algn="l">
              <a:lnSpc>
                <a:spcPct val="160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• WM1 与 WM2 配置混用，导致分区、模块或依赖路径不匹配</a:t>
            </a:r>
          </a:p>
          <a:p xmlns:a="http://schemas.openxmlformats.org/drawingml/2006/main">
            <a:pPr algn="l">
              <a:lnSpc>
                <a:spcPct val="160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• 子模块未拉取，缺少 hector 或 modelinterface</a:t>
            </a:r>
          </a:p>
          <a:p xmlns:a="http://schemas.openxmlformats.org/drawingml/2006/main">
            <a:pPr algn="l">
              <a:lnSpc>
                <a:spcPct val="160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• build-tools 中 jars、eigen、java_linux、tbb-linux、boost-lib 路径与 setup 文件不一致</a:t>
            </a:r>
          </a:p>
          <a:p xmlns:a="http://schemas.openxmlformats.org/drawingml/2006/main">
            <a:pPr algn="l">
              <a:lnSpc>
                <a:spcPct val="160000"/>
              </a:lnSpc>
              <a:spcAft>
                <a:spcPts val="0"/>
              </a:spcAft>
            </a:pPr>
            <a:r>
              <a:rPr lang="en-US" sz="1450" b="0">
                <a:solidFill>
                  <a:srgbClr val="333333"/>
                </a:solidFill>
                <a:latin typeface="Arial"/>
                <a:ea typeface="微软雅黑"/>
              </a:rPr>
              <a:t>• RUN 前未生成查询 XML，或 xmldb_batch.xml 仍指向旧文件名；这会使每个情景的 QUERY 失败</a:t>
            </a: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110" name="TextBox 1"/>
          <p:cNvSpPr txBox="1"/>
          <p:nvPr/>
        </p:nvSpPr>
        <p:spPr>
          <a:xfrm xmlns:a="http://schemas.openxmlformats.org/drawingml/2006/main">
            <a:off x="491330" y="116632"/>
            <a:ext cx="11209340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微软雅黑"/>
              </a:rPr>
              <a:t>参考与获取</a:t>
            </a:r>
          </a:p>
        </p:txBody>
      </p:sp>
      <p:sp>
        <p:nvSpPr>
          <p:cNvPr id="100111" name="TextBox 2"/>
          <p:cNvSpPr txBox="1"/>
          <p:nvPr/>
        </p:nvSpPr>
        <p:spPr>
          <a:xfrm xmlns:a="http://schemas.openxmlformats.org/drawingml/2006/main">
            <a:off x="491330" y="792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AB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2" name="TextBox 3"/>
          <p:cNvSpPr txBox="1"/>
          <p:nvPr/>
        </p:nvSpPr>
        <p:spPr>
          <a:xfrm xmlns:a="http://schemas.openxmlformats.org/drawingml/2006/main">
            <a:off x="11647856" y="6493000"/>
            <a:ext cx="42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/>
            <a:r>
              <a:rPr lang="en-US" sz="1100">
                <a:solidFill>
                  <a:srgbClr val="808080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100113" name="TextBox 4"/>
          <p:cNvSpPr txBox="1"/>
          <p:nvPr/>
        </p:nvSpPr>
        <p:spPr>
          <a:xfrm xmlns:a="http://schemas.openxmlformats.org/drawingml/2006/main">
            <a:off x="491330" y="1100000"/>
            <a:ext cx="11209340" cy="3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>
                <a:solidFill>
                  <a:srgbClr val="004AB8"/>
                </a:solidFill>
                <a:latin typeface="Arial"/>
                <a:ea typeface="微软雅黑"/>
              </a:rPr>
              <a:t>工具集与文档</a:t>
            </a:r>
          </a:p>
        </p:txBody>
      </p:sp>
      <p:sp>
        <p:nvSpPr>
          <p:cNvPr id="100114" name="TextBox 5"/>
          <p:cNvSpPr txBox="1"/>
          <p:nvPr/>
        </p:nvSpPr>
        <p:spPr>
          <a:xfrm xmlns:a="http://schemas.openxmlformats.org/drawingml/2006/main">
            <a:off x="491330" y="1560000"/>
            <a:ext cx="11209340" cy="1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70000"/>
              </a:lnSpc>
              <a:spcAft>
                <a:spcPts val="0"/>
              </a:spcAft>
            </a:pPr>
            <a:r>
              <a:rPr lang="en-US" sz="1550" b="0">
                <a:solidFill>
                  <a:srgbClr val="333333"/>
                </a:solidFill>
                <a:latin typeface="Arial"/>
                <a:ea typeface="微软雅黑"/>
              </a:rPr>
              <a:t>仓库    https://github.com/jerrysong0128/gcam-hpc-PKU</a:t>
            </a:r>
          </a:p>
          <a:p xmlns:a="http://schemas.openxmlformats.org/drawingml/2006/main">
            <a:pPr algn="l">
              <a:lnSpc>
                <a:spcPct val="170000"/>
              </a:lnSpc>
              <a:spcAft>
                <a:spcPts val="0"/>
              </a:spcAft>
            </a:pPr>
            <a:r>
              <a:rPr lang="en-US" sz="1550" b="0">
                <a:solidFill>
                  <a:srgbClr val="333333"/>
                </a:solidFill>
                <a:latin typeface="Arial"/>
                <a:ea typeface="微软雅黑"/>
              </a:rPr>
              <a:t>Wiki    Home · 1-Build · 2-Run · 3-Query（QUERY 须在 RUN 前配置）</a:t>
            </a:r>
          </a:p>
          <a:p xmlns:a="http://schemas.openxmlformats.org/drawingml/2006/main">
            <a:pPr algn="l">
              <a:lnSpc>
                <a:spcPct val="170000"/>
              </a:lnSpc>
              <a:spcAft>
                <a:spcPts val="0"/>
              </a:spcAft>
            </a:pPr>
            <a:r>
              <a:rPr lang="en-US" sz="1550" b="0">
                <a:solidFill>
                  <a:srgbClr val="333333"/>
                </a:solidFill>
                <a:latin typeface="Arial"/>
                <a:ea typeface="微软雅黑"/>
              </a:rPr>
              <a:t>源码    gcam-core: JGCRI/gcam-core   ·   gcam-china: umd-cgs/gcam-china</a:t>
            </a:r>
          </a:p>
        </p:txBody>
      </p:sp>
      <p:sp>
        <p:nvSpPr>
          <p:cNvPr id="100115" name="TextBox 6"/>
          <p:cNvSpPr txBox="1"/>
          <p:nvPr/>
        </p:nvSpPr>
        <p:spPr>
          <a:xfrm xmlns:a="http://schemas.openxmlformats.org/drawingml/2006/main">
            <a:off x="491330" y="3240000"/>
            <a:ext cx="11209340" cy="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6" name="TextBox 7"/>
          <p:cNvSpPr txBox="1"/>
          <p:nvPr/>
        </p:nvSpPr>
        <p:spPr>
          <a:xfrm xmlns:a="http://schemas.openxmlformats.org/drawingml/2006/main">
            <a:off x="491330" y="3480000"/>
            <a:ext cx="11209340" cy="3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>
                <a:solidFill>
                  <a:srgbClr val="004AB8"/>
                </a:solidFill>
                <a:latin typeface="Arial"/>
                <a:ea typeface="微软雅黑"/>
              </a:rPr>
              <a:t>三步速览</a:t>
            </a:r>
          </a:p>
        </p:txBody>
      </p:sp>
      <p:sp>
        <p:nvSpPr>
          <p:cNvPr id="100117" name="TextBox 8"/>
          <p:cNvSpPr txBox="1"/>
          <p:nvPr/>
        </p:nvSpPr>
        <p:spPr>
          <a:xfrm xmlns:a="http://schemas.openxmlformats.org/drawingml/2006/main">
            <a:off x="491330" y="3940000"/>
            <a:ext cx="11209340" cy="1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BUILD   source build setup → make gcam → gcam.exe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RUN     前置检查 QUERY → master.sh → 每个情景运行 GCAM + QUERY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lang="en-US" sz="1400" b="0">
                <a:solidFill>
                  <a:srgbClr val="333333"/>
                </a:solidFill>
                <a:latin typeface="Arial"/>
                <a:ea typeface="微软雅黑"/>
              </a:rPr>
              <a:t>QUERY   预先配置；运行后自动合并所有情景为 Final_&lt;jobid&gt;.csv</a:t>
            </a:r>
          </a:p>
        </p:txBody>
      </p:sp>
      <p:sp>
        <p:nvSpPr>
          <p:cNvPr id="100118" name="TextBox 9"/>
          <p:cNvSpPr txBox="1"/>
          <p:nvPr/>
        </p:nvSpPr>
        <p:spPr>
          <a:xfrm xmlns:a="http://schemas.openxmlformats.org/drawingml/2006/main">
            <a:off x="491330" y="5920000"/>
            <a:ext cx="112093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00" b="0">
                <a:solidFill>
                  <a:srgbClr val="808080"/>
                </a:solidFill>
                <a:latin typeface="Arial"/>
                <a:ea typeface="微软雅黑"/>
              </a:rPr>
              <a:t>宋京阳  jerrysong2025@stu.pku.edu.cn</a:t>
            </a:r>
          </a:p>
        </p:txBody>
      </p:sp>
    </p:spTree>
  </p:cSld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0"/>
</p:tagLst>
</file>

<file path=ppt/theme/theme1.xml><?xml version="1.0" encoding="utf-8"?>
<a:theme xmlns:thm15="http://schemas.microsoft.com/office/thememl/2012/main"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a5yhwu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Macintosh PowerPoint</Application>
  <PresentationFormat>Widescreen</PresentationFormat>
  <Paragraphs>22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Arial</vt:lpstr>
      <vt:lpstr>Microsoft YaHei</vt:lpstr>
      <vt:lpstr>Microsoft YaHei</vt:lpstr>
      <vt:lpstr>Microsoft YaHei UI</vt:lpstr>
      <vt:lpstr>Office 主题​​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JerrySong</dc:creator>
  <cp:lastModifiedBy>JerrySong</cp:lastModifiedBy>
  <cp:revision>1</cp:revision>
  <dcterms:created xsi:type="dcterms:W3CDTF">2026-07-25T07:02:49Z</dcterms:created>
  <dcterms:modified xsi:type="dcterms:W3CDTF">2026-07-25T07:03:38Z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1.0.141</vt:lpwstr>
  </op:property>
  <op:property fmtid="{D5CDD505-2E9C-101B-9397-08002B2CF9AE}" pid="3" name="OfficeCLI.LastModified">
    <vt:lpwstr xmlns:vt="http://schemas.openxmlformats.org/officeDocument/2006/docPropsVTypes">2026-07-25T13:55:26Z</vt:lpwstr>
  </op:property>
</op:Properties>
</file>