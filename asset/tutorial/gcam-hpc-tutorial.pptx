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docProps/core.xml" Id="rId3" /><Relationship Type="http://schemas.openxmlformats.org/package/2006/relationships/metadata/thumbnail" Target="docProps/thumbnail.jpeg" Id="rId2" /><Relationship Type="http://schemas.openxmlformats.org/officeDocument/2006/relationships/officeDocument" Target="ppt/presentation.xml" Id="rId1" /><Relationship Type="http://schemas.openxmlformats.org/officeDocument/2006/relationships/extended-properties" Target="docProps/app.xml" Id="rId4" /><Relationship Type="http://schemas.openxmlformats.org/officeDocument/2006/relationships/custom-properties" Target="/docProps/custom.xml" Id="R678e5835e1564b7b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"/>
  </p:notesMasterIdLst>
  <p:sldIdLst>
    <p:sldId id="264" r:id="rId2"/>
    <p:sldId id="11090887" r:id="rId3"/>
    <p:sldId id="11090901" r:id="rId4"/>
    <p:sldId id="11090902" r:id="R3e5521fd18f44ca0"/>
    <p:sldId id="11090903" r:id="R2660e7c6e7a645cf"/>
    <p:sldId id="11090904" r:id="R6a023cb0c6e04dc5"/>
    <p:sldId id="11090905" r:id="Re219fbdc02744667"/>
    <p:sldId id="11090906" r:id="Rf8695ae8965347c0"/>
    <p:sldId id="11090907" r:id="R4f08096f850b4ce7"/>
    <p:sldId id="11090908" r:id="Rb81514c7df4141cb"/>
    <p:sldId id="11090909" r:id="Rbb474c74a632498f"/>
    <p:sldId id="11090910" r:id="Ra9b71221822041bd"/>
    <p:sldId id="11090911" r:id="R318e9c771f7340ec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theme/theme1.xml" Id="rId8" /><Relationship Type="http://schemas.openxmlformats.org/officeDocument/2006/relationships/slide" Target="slides/slide2.xml" Id="rId3" /><Relationship Type="http://schemas.openxmlformats.org/officeDocument/2006/relationships/viewProps" Target="viewProps.xml" Id="rId7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presProps" Target="presProps.xml" Id="rId6" /><Relationship Type="http://schemas.openxmlformats.org/officeDocument/2006/relationships/notesMaster" Target="notesMasters/notesMaster1.xml" Id="rId5" /><Relationship Type="http://schemas.openxmlformats.org/officeDocument/2006/relationships/slide" Target="slides/slide3.xml" Id="rId4" /><Relationship Type="http://schemas.openxmlformats.org/officeDocument/2006/relationships/tableStyles" Target="tableStyles.xml" Id="rId9" /><Relationship Type="http://schemas.openxmlformats.org/officeDocument/2006/relationships/slide" Target="/ppt/slides/slide4.xml" Id="R3e5521fd18f44ca0" /><Relationship Type="http://schemas.openxmlformats.org/officeDocument/2006/relationships/slide" Target="/ppt/slides/slide5.xml" Id="R2660e7c6e7a645cf" /><Relationship Type="http://schemas.openxmlformats.org/officeDocument/2006/relationships/slide" Target="/ppt/slides/slide6.xml" Id="R6a023cb0c6e04dc5" /><Relationship Type="http://schemas.openxmlformats.org/officeDocument/2006/relationships/slide" Target="/ppt/slides/slide7.xml" Id="Re219fbdc02744667" /><Relationship Type="http://schemas.openxmlformats.org/officeDocument/2006/relationships/slide" Target="/ppt/slides/slide8.xml" Id="Rf8695ae8965347c0" /><Relationship Type="http://schemas.openxmlformats.org/officeDocument/2006/relationships/slide" Target="/ppt/slides/slide9.xml" Id="R4f08096f850b4ce7" /><Relationship Type="http://schemas.openxmlformats.org/officeDocument/2006/relationships/slide" Target="/ppt/slides/slide10.xml" Id="Rb81514c7df4141cb" /><Relationship Type="http://schemas.openxmlformats.org/officeDocument/2006/relationships/slide" Target="/ppt/slides/slide11.xml" Id="Rbb474c74a632498f" /><Relationship Type="http://schemas.openxmlformats.org/officeDocument/2006/relationships/slide" Target="/ppt/slides/slide12.xml" Id="Ra9b71221822041bd" /><Relationship Type="http://schemas.openxmlformats.org/officeDocument/2006/relationships/slide" Target="/ppt/slides/slide13.xml" Id="R318e9c771f7340ec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28469F-A6D8-F64A-A441-914690789D38}" type="datetimeFigureOut">
              <a:rPr lang="en-GB" smtClean="0"/>
              <a:t>25/07/2026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E0053-3DEE-FA4F-8F8F-504EC3FA33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1360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BF2D02-486E-4FD7-AC36-D05C34A545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BF2D02-486E-4FD7-AC36-D05C34A545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C0A36-581A-0023-5F27-4BE6A1958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CA1123A-E7FF-ACD3-F431-03A720644B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BBCE3C-31DF-50C2-3821-5141C7933E5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DE550B-ADBE-7CA8-61FF-76699FF036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BF2D02-486E-4FD7-AC36-D05C34A545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6717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9990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7842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prstClr val="white"/>
              </a:solidFill>
              <a:latin typeface="Arial" panose="020B0604020202090204" pitchFamily="34" charset="0"/>
              <a:ea typeface="微软雅黑" panose="020B0503020204020204" pitchFamily="34" charset="-122"/>
              <a:cs typeface="Arial" panose="020B0604020202090204" pitchFamily="34" charset="0"/>
              <a:sym typeface="Arial" panose="020B0604020202090204" pitchFamily="34" charset="0"/>
            </a:endParaRPr>
          </a:p>
        </p:txBody>
      </p:sp>
      <p:sp>
        <p:nvSpPr>
          <p:cNvPr id="11" name="任意多边形: 形状 10"/>
          <p:cNvSpPr/>
          <p:nvPr/>
        </p:nvSpPr>
        <p:spPr>
          <a:xfrm flipV="1">
            <a:off x="441222" y="675002"/>
            <a:ext cx="11750778" cy="109222"/>
          </a:xfrm>
          <a:custGeom>
            <a:avLst/>
            <a:gdLst>
              <a:gd name="connsiteX0" fmla="*/ 0 w 11621729"/>
              <a:gd name="connsiteY0" fmla="*/ 98323 h 98323"/>
              <a:gd name="connsiteX1" fmla="*/ 98323 w 11621729"/>
              <a:gd name="connsiteY1" fmla="*/ 0 h 98323"/>
              <a:gd name="connsiteX2" fmla="*/ 11621729 w 11621729"/>
              <a:gd name="connsiteY2" fmla="*/ 0 h 98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621729" h="98323">
                <a:moveTo>
                  <a:pt x="0" y="98323"/>
                </a:moveTo>
                <a:lnTo>
                  <a:pt x="98323" y="0"/>
                </a:lnTo>
                <a:lnTo>
                  <a:pt x="11621729" y="0"/>
                </a:lnTo>
              </a:path>
            </a:pathLst>
          </a:custGeom>
          <a:ln w="22225">
            <a:gradFill>
              <a:gsLst>
                <a:gs pos="0">
                  <a:srgbClr val="002060"/>
                </a:gs>
                <a:gs pos="100000">
                  <a:srgbClr val="004AB8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 </a:t>
            </a:r>
            <a:endParaRPr lang="zh-CN" altLang="en-US" dirty="0"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403383" y="636746"/>
            <a:ext cx="45720" cy="45720"/>
          </a:xfrm>
          <a:prstGeom prst="ellipse">
            <a:avLst/>
          </a:prstGeom>
          <a:ln w="12700">
            <a:gradFill>
              <a:gsLst>
                <a:gs pos="0">
                  <a:srgbClr val="002060"/>
                </a:gs>
                <a:gs pos="100000">
                  <a:srgbClr val="0E68BA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3" name="任意多边形: 形状 12"/>
          <p:cNvSpPr/>
          <p:nvPr userDrawn="1"/>
        </p:nvSpPr>
        <p:spPr>
          <a:xfrm flipV="1">
            <a:off x="0" y="691657"/>
            <a:ext cx="500857" cy="92889"/>
          </a:xfrm>
          <a:custGeom>
            <a:avLst/>
            <a:gdLst>
              <a:gd name="connsiteX0" fmla="*/ 0 w 500857"/>
              <a:gd name="connsiteY0" fmla="*/ 92889 h 92889"/>
              <a:gd name="connsiteX1" fmla="*/ 416281 w 500857"/>
              <a:gd name="connsiteY1" fmla="*/ 92889 h 92889"/>
              <a:gd name="connsiteX2" fmla="*/ 500857 w 500857"/>
              <a:gd name="connsiteY2" fmla="*/ 0 h 92889"/>
              <a:gd name="connsiteX3" fmla="*/ 0 w 500857"/>
              <a:gd name="connsiteY3" fmla="*/ 0 h 92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0857" h="92889">
                <a:moveTo>
                  <a:pt x="0" y="92889"/>
                </a:moveTo>
                <a:lnTo>
                  <a:pt x="416281" y="92889"/>
                </a:lnTo>
                <a:lnTo>
                  <a:pt x="500857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2060">
                  <a:alpha val="0"/>
                </a:srgbClr>
              </a:gs>
              <a:gs pos="100000">
                <a:srgbClr val="004AB8"/>
              </a:gs>
            </a:gsLst>
            <a:lin ang="10800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1485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1433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0718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../notesSlides/notesSlide3.xml" Id="rId3" /><Relationship Type="http://schemas.openxmlformats.org/officeDocument/2006/relationships/slideLayout" Target="../slideLayouts/slideLayout2.xml" Id="rId2" /><Relationship Type="http://schemas.openxmlformats.org/officeDocument/2006/relationships/tags" Target="../tags/tag2.xml" Id="rId1" /><Relationship Type="http://schemas.openxmlformats.org/officeDocument/2006/relationships/hyperlink" Target="https://github.com/jerrysong0128/gcam-hpc-PKU" TargetMode="External" Id="rId4" /><Relationship Type="http://schemas.openxmlformats.org/officeDocument/2006/relationships/image" Target="/ppt/media/image7.png" Id="Rd734edb2bef542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ea0b0998140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465101b8d45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8f762750940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1574c57274a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783698fb74d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031cc48e6446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133c48f1849cb" /><Relationship Type="http://schemas.openxmlformats.org/officeDocument/2006/relationships/image" Target="/ppt/media/image8.png" Id="R1a0b2e73a1f64d7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0f69bcff74569" /><Relationship Type="http://schemas.openxmlformats.org/officeDocument/2006/relationships/image" Target="/ppt/media/image6.png" Id="Ref665216dd1b4df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7c727a78a477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a2dd5b1df64375" /></Relationships>
</file>

<file path=ppt/slides/slide1.xml><?xml version="1.0" encoding="utf-8"?>
<p:sld xmlns:a14="http://schemas.microsoft.com/office/drawing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7" name="文本框 2"/>
          <p:cNvSpPr txBox="1"/>
          <p:nvPr/>
        </p:nvSpPr>
        <p:spPr>
          <a:xfrm>
            <a:off x="411191" y="2366435"/>
            <a:ext cx="11643208" cy="90980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200" b="1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/>
                <a:ea typeface="微软雅黑"/>
                <a:cs typeface="+mn-ea"/>
                <a:sym typeface="+mn-lt"/>
              </a:rPr>
              <a:t>GCAM-China-v8 </a:t>
            </a:r>
            <a:r>
              <a:rPr kumimoji="0" lang="zh-CN" altLang="en-US" sz="5200" b="1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/>
                <a:ea typeface="微软雅黑"/>
                <a:cs typeface="+mn-ea"/>
                <a:sym typeface="+mn-lt"/>
              </a:rPr>
              <a:t>模型概览</a:t>
            </a:r>
          </a:p>
        </p:txBody>
      </p:sp>
      <p:sp>
        <p:nvSpPr>
          <p:cNvPr id="170" name="文本框 169"/>
          <p:cNvSpPr txBox="1"/>
          <p:nvPr/>
        </p:nvSpPr>
        <p:spPr>
          <a:xfrm>
            <a:off x="4925794" y="5148047"/>
            <a:ext cx="2614002" cy="494624"/>
          </a:xfrm>
          <a:prstGeom prst="rect">
            <a:avLst/>
          </a:prstGeom>
          <a:noFill/>
        </p:spPr>
        <p:txBody>
          <a:bodyPr wrap="square" lIns="90000" tIns="46800" rIns="90000" bIns="468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/>
                <a:ea typeface="微软雅黑"/>
                <a:cs typeface="+mn-ea"/>
                <a:sym typeface="+mn-lt"/>
              </a:rPr>
              <a:t>2025</a:t>
            </a:r>
            <a:r>
              <a:rPr kumimoji="0" lang="zh-CN" altLang="en-US" sz="2600" b="1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/>
                <a:ea typeface="微软雅黑"/>
                <a:cs typeface="+mn-ea"/>
                <a:sym typeface="+mn-lt"/>
              </a:rPr>
              <a:t>年</a:t>
            </a:r>
            <a:r>
              <a:rPr kumimoji="0" lang="en-US" altLang="zh-CN" sz="2600" b="1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/>
                <a:ea typeface="微软雅黑"/>
                <a:cs typeface="+mn-ea"/>
                <a:sym typeface="+mn-lt"/>
              </a:rPr>
              <a:t>4</a:t>
            </a:r>
            <a:r>
              <a:rPr kumimoji="0" lang="zh-CN" altLang="en-US" sz="2600" b="1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/>
                <a:ea typeface="微软雅黑"/>
                <a:cs typeface="+mn-ea"/>
                <a:sym typeface="+mn-lt"/>
              </a:rPr>
              <a:t>月</a:t>
            </a:r>
            <a:r>
              <a:rPr kumimoji="0" lang="en-US" altLang="zh-CN" sz="2600" b="1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/>
                <a:ea typeface="微软雅黑"/>
                <a:cs typeface="+mn-ea"/>
                <a:sym typeface="+mn-lt"/>
              </a:rPr>
              <a:t>12</a:t>
            </a:r>
            <a:r>
              <a:rPr kumimoji="0" lang="zh-CN" altLang="en-US" sz="2600" b="1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/>
                <a:ea typeface="微软雅黑"/>
                <a:cs typeface="+mn-ea"/>
                <a:sym typeface="+mn-lt"/>
              </a:rPr>
              <a:t>日</a:t>
            </a:r>
          </a:p>
        </p:txBody>
      </p:sp>
      <p:sp>
        <p:nvSpPr>
          <p:cNvPr id="3" name="文本框 34"/>
          <p:cNvSpPr txBox="1"/>
          <p:nvPr/>
        </p:nvSpPr>
        <p:spPr>
          <a:xfrm>
            <a:off x="201609" y="245118"/>
            <a:ext cx="40722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/>
                <a:ea typeface="微软雅黑"/>
                <a:cs typeface="+mn-ea"/>
                <a:sym typeface="+mn-lt"/>
              </a:rPr>
              <a:t>2026</a:t>
            </a:r>
            <a:r>
              <a:rPr kumimoji="0" lang="zh-CN" altLang="en-US" sz="2200" b="1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/>
                <a:ea typeface="微软雅黑"/>
                <a:cs typeface="+mn-ea"/>
                <a:sym typeface="+mn-lt"/>
              </a:rPr>
              <a:t> 气候变化综合评估模型与国家情景数据库专题研讨会</a:t>
            </a:r>
          </a:p>
        </p:txBody>
      </p:sp>
    </p:spTree>
  </p:cSld>
  <p:clrMapOvr>
    <a:masterClrMapping/>
  </p:clrMapOvr>
</p:sld>
</file>

<file path=ppt/slides/slide2.xml><?xml version="1.0" encoding="utf-8"?>
<p:sld xmlns:a14="http://schemas.microsoft.com/office/drawing/2010/main"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-矩形 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91329" y="116632"/>
            <a:ext cx="1069186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汇报提纲</a:t>
            </a:r>
          </a:p>
        </p:txBody>
      </p:sp>
      <p:sp>
        <p:nvSpPr>
          <p:cNvPr id="5" name="矩形 39"/>
          <p:cNvSpPr/>
          <p:nvPr/>
        </p:nvSpPr>
        <p:spPr>
          <a:xfrm>
            <a:off x="2908014" y="2048552"/>
            <a:ext cx="6375971" cy="69075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  <a:effectLst>
            <a:outerShdw blurRad="635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矩形 23"/>
          <p:cNvSpPr/>
          <p:nvPr/>
        </p:nvSpPr>
        <p:spPr>
          <a:xfrm>
            <a:off x="2908015" y="2048552"/>
            <a:ext cx="1317769" cy="690754"/>
          </a:xfrm>
          <a:custGeom>
            <a:avLst/>
            <a:gdLst>
              <a:gd name="connsiteX0" fmla="*/ 0 w 1200944"/>
              <a:gd name="connsiteY0" fmla="*/ 0 h 720000"/>
              <a:gd name="connsiteX1" fmla="*/ 1200944 w 1200944"/>
              <a:gd name="connsiteY1" fmla="*/ 0 h 720000"/>
              <a:gd name="connsiteX2" fmla="*/ 1200944 w 1200944"/>
              <a:gd name="connsiteY2" fmla="*/ 720000 h 720000"/>
              <a:gd name="connsiteX3" fmla="*/ 0 w 1200944"/>
              <a:gd name="connsiteY3" fmla="*/ 720000 h 720000"/>
              <a:gd name="connsiteX4" fmla="*/ 0 w 1200944"/>
              <a:gd name="connsiteY4" fmla="*/ 0 h 720000"/>
              <a:gd name="connsiteX0-1" fmla="*/ 0 w 1200944"/>
              <a:gd name="connsiteY0-2" fmla="*/ 0 h 720636"/>
              <a:gd name="connsiteX1-3" fmla="*/ 1200944 w 1200944"/>
              <a:gd name="connsiteY1-4" fmla="*/ 0 h 720636"/>
              <a:gd name="connsiteX2-5" fmla="*/ 1200944 w 1200944"/>
              <a:gd name="connsiteY2-6" fmla="*/ 720000 h 720636"/>
              <a:gd name="connsiteX3-7" fmla="*/ 822325 w 1200944"/>
              <a:gd name="connsiteY3-8" fmla="*/ 720636 h 720636"/>
              <a:gd name="connsiteX4-9" fmla="*/ 0 w 1200944"/>
              <a:gd name="connsiteY4-10" fmla="*/ 720000 h 720636"/>
              <a:gd name="connsiteX5" fmla="*/ 0 w 1200944"/>
              <a:gd name="connsiteY5" fmla="*/ 0 h 720636"/>
              <a:gd name="connsiteX0-11" fmla="*/ 0 w 1200944"/>
              <a:gd name="connsiteY0-12" fmla="*/ 0 h 720636"/>
              <a:gd name="connsiteX1-13" fmla="*/ 1200944 w 1200944"/>
              <a:gd name="connsiteY1-14" fmla="*/ 0 h 720636"/>
              <a:gd name="connsiteX2-15" fmla="*/ 822325 w 1200944"/>
              <a:gd name="connsiteY2-16" fmla="*/ 720636 h 720636"/>
              <a:gd name="connsiteX3-17" fmla="*/ 0 w 1200944"/>
              <a:gd name="connsiteY3-18" fmla="*/ 720000 h 720636"/>
              <a:gd name="connsiteX4-19" fmla="*/ 0 w 1200944"/>
              <a:gd name="connsiteY4-20" fmla="*/ 0 h 720636"/>
              <a:gd name="connsiteX0-21" fmla="*/ 0 w 1200944"/>
              <a:gd name="connsiteY0-22" fmla="*/ 0 h 720636"/>
              <a:gd name="connsiteX1-23" fmla="*/ 1200944 w 1200944"/>
              <a:gd name="connsiteY1-24" fmla="*/ 0 h 720636"/>
              <a:gd name="connsiteX2-25" fmla="*/ 822325 w 1200944"/>
              <a:gd name="connsiteY2-26" fmla="*/ 720636 h 720636"/>
              <a:gd name="connsiteX3-27" fmla="*/ 0 w 1200944"/>
              <a:gd name="connsiteY3-28" fmla="*/ 720000 h 720636"/>
              <a:gd name="connsiteX4-29" fmla="*/ 0 w 1200944"/>
              <a:gd name="connsiteY4-30" fmla="*/ 0 h 720636"/>
              <a:gd name="connsiteX0-31" fmla="*/ 0 w 1374775"/>
              <a:gd name="connsiteY0-32" fmla="*/ 0 h 720636"/>
              <a:gd name="connsiteX1-33" fmla="*/ 1374775 w 1374775"/>
              <a:gd name="connsiteY1-34" fmla="*/ 0 h 720636"/>
              <a:gd name="connsiteX2-35" fmla="*/ 822325 w 1374775"/>
              <a:gd name="connsiteY2-36" fmla="*/ 720636 h 720636"/>
              <a:gd name="connsiteX3-37" fmla="*/ 0 w 1374775"/>
              <a:gd name="connsiteY3-38" fmla="*/ 720000 h 720636"/>
              <a:gd name="connsiteX4-39" fmla="*/ 0 w 1374775"/>
              <a:gd name="connsiteY4-40" fmla="*/ 0 h 720636"/>
              <a:gd name="connsiteX0-41" fmla="*/ 0 w 1374775"/>
              <a:gd name="connsiteY0-42" fmla="*/ 0 h 720636"/>
              <a:gd name="connsiteX1-43" fmla="*/ 1374775 w 1374775"/>
              <a:gd name="connsiteY1-44" fmla="*/ 0 h 720636"/>
              <a:gd name="connsiteX2-45" fmla="*/ 822325 w 1374775"/>
              <a:gd name="connsiteY2-46" fmla="*/ 720636 h 720636"/>
              <a:gd name="connsiteX3-47" fmla="*/ 0 w 1374775"/>
              <a:gd name="connsiteY3-48" fmla="*/ 720000 h 720636"/>
              <a:gd name="connsiteX4-49" fmla="*/ 0 w 1374775"/>
              <a:gd name="connsiteY4-50" fmla="*/ 0 h 720636"/>
              <a:gd name="connsiteX0-51" fmla="*/ 0 w 1374775"/>
              <a:gd name="connsiteY0-52" fmla="*/ 0 h 720636"/>
              <a:gd name="connsiteX1-53" fmla="*/ 1374775 w 1374775"/>
              <a:gd name="connsiteY1-54" fmla="*/ 0 h 720636"/>
              <a:gd name="connsiteX2-55" fmla="*/ 822325 w 1374775"/>
              <a:gd name="connsiteY2-56" fmla="*/ 720636 h 720636"/>
              <a:gd name="connsiteX3-57" fmla="*/ 0 w 1374775"/>
              <a:gd name="connsiteY3-58" fmla="*/ 720000 h 720636"/>
              <a:gd name="connsiteX4-59" fmla="*/ 0 w 1374775"/>
              <a:gd name="connsiteY4-60" fmla="*/ 0 h 720636"/>
              <a:gd name="connsiteX0-61" fmla="*/ 0 w 1374775"/>
              <a:gd name="connsiteY0-62" fmla="*/ 0 h 720636"/>
              <a:gd name="connsiteX1-63" fmla="*/ 1374775 w 1374775"/>
              <a:gd name="connsiteY1-64" fmla="*/ 0 h 720636"/>
              <a:gd name="connsiteX2-65" fmla="*/ 822325 w 1374775"/>
              <a:gd name="connsiteY2-66" fmla="*/ 720636 h 720636"/>
              <a:gd name="connsiteX3-67" fmla="*/ 0 w 1374775"/>
              <a:gd name="connsiteY3-68" fmla="*/ 720000 h 720636"/>
              <a:gd name="connsiteX4-69" fmla="*/ 0 w 1374775"/>
              <a:gd name="connsiteY4-70" fmla="*/ 0 h 720636"/>
              <a:gd name="connsiteX0-71" fmla="*/ 0 w 1374775"/>
              <a:gd name="connsiteY0-72" fmla="*/ 0 h 720636"/>
              <a:gd name="connsiteX1-73" fmla="*/ 1374775 w 1374775"/>
              <a:gd name="connsiteY1-74" fmla="*/ 0 h 720636"/>
              <a:gd name="connsiteX2-75" fmla="*/ 822325 w 1374775"/>
              <a:gd name="connsiteY2-76" fmla="*/ 720636 h 720636"/>
              <a:gd name="connsiteX3-77" fmla="*/ 0 w 1374775"/>
              <a:gd name="connsiteY3-78" fmla="*/ 720000 h 720636"/>
              <a:gd name="connsiteX4-79" fmla="*/ 0 w 1374775"/>
              <a:gd name="connsiteY4-80" fmla="*/ 0 h 72063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374775" h="720636">
                <a:moveTo>
                  <a:pt x="0" y="0"/>
                </a:moveTo>
                <a:lnTo>
                  <a:pt x="1374775" y="0"/>
                </a:lnTo>
                <a:cubicBezTo>
                  <a:pt x="1022351" y="211637"/>
                  <a:pt x="1105694" y="718550"/>
                  <a:pt x="822325" y="720636"/>
                </a:cubicBezTo>
                <a:lnTo>
                  <a:pt x="0" y="720000"/>
                </a:lnTo>
                <a:lnTo>
                  <a:pt x="0" y="0"/>
                </a:lnTo>
                <a:close/>
              </a:path>
            </a:pathLst>
          </a:custGeom>
          <a:solidFill>
            <a:srgbClr val="004A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00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cs"/>
              </a:rPr>
              <a:t>一</a:t>
            </a:r>
          </a:p>
        </p:txBody>
      </p:sp>
      <p:sp>
        <p:nvSpPr>
          <p:cNvPr id="7" name="矩形 41"/>
          <p:cNvSpPr/>
          <p:nvPr/>
        </p:nvSpPr>
        <p:spPr>
          <a:xfrm>
            <a:off x="4434581" y="2132318"/>
            <a:ext cx="4052713" cy="52322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4AB8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GCAM-China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4AB8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</a:t>
            </a:r>
            <a:r>
              <a:rPr kumimoji="0" lang="zh-CN" altLang="en-US" sz="2800" b="1" i="0" u="none" strike="noStrike" kern="1200" cap="none" spc="225" normalizeH="0" baseline="0" noProof="0" dirty="0">
                <a:ln>
                  <a:noFill/>
                </a:ln>
                <a:solidFill>
                  <a:srgbClr val="004AB8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基本情况</a:t>
            </a:r>
          </a:p>
        </p:txBody>
      </p:sp>
      <p:sp>
        <p:nvSpPr>
          <p:cNvPr id="8" name="矩形 42"/>
          <p:cNvSpPr/>
          <p:nvPr/>
        </p:nvSpPr>
        <p:spPr>
          <a:xfrm>
            <a:off x="2908014" y="3083623"/>
            <a:ext cx="6375971" cy="69075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  <a:effectLst>
            <a:outerShdw blurRad="635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矩形 23"/>
          <p:cNvSpPr/>
          <p:nvPr/>
        </p:nvSpPr>
        <p:spPr>
          <a:xfrm>
            <a:off x="2908015" y="3083623"/>
            <a:ext cx="1317769" cy="690754"/>
          </a:xfrm>
          <a:custGeom>
            <a:avLst/>
            <a:gdLst>
              <a:gd name="connsiteX0" fmla="*/ 0 w 1200944"/>
              <a:gd name="connsiteY0" fmla="*/ 0 h 720000"/>
              <a:gd name="connsiteX1" fmla="*/ 1200944 w 1200944"/>
              <a:gd name="connsiteY1" fmla="*/ 0 h 720000"/>
              <a:gd name="connsiteX2" fmla="*/ 1200944 w 1200944"/>
              <a:gd name="connsiteY2" fmla="*/ 720000 h 720000"/>
              <a:gd name="connsiteX3" fmla="*/ 0 w 1200944"/>
              <a:gd name="connsiteY3" fmla="*/ 720000 h 720000"/>
              <a:gd name="connsiteX4" fmla="*/ 0 w 1200944"/>
              <a:gd name="connsiteY4" fmla="*/ 0 h 720000"/>
              <a:gd name="connsiteX0-1" fmla="*/ 0 w 1200944"/>
              <a:gd name="connsiteY0-2" fmla="*/ 0 h 720636"/>
              <a:gd name="connsiteX1-3" fmla="*/ 1200944 w 1200944"/>
              <a:gd name="connsiteY1-4" fmla="*/ 0 h 720636"/>
              <a:gd name="connsiteX2-5" fmla="*/ 1200944 w 1200944"/>
              <a:gd name="connsiteY2-6" fmla="*/ 720000 h 720636"/>
              <a:gd name="connsiteX3-7" fmla="*/ 822325 w 1200944"/>
              <a:gd name="connsiteY3-8" fmla="*/ 720636 h 720636"/>
              <a:gd name="connsiteX4-9" fmla="*/ 0 w 1200944"/>
              <a:gd name="connsiteY4-10" fmla="*/ 720000 h 720636"/>
              <a:gd name="connsiteX5" fmla="*/ 0 w 1200944"/>
              <a:gd name="connsiteY5" fmla="*/ 0 h 720636"/>
              <a:gd name="connsiteX0-11" fmla="*/ 0 w 1200944"/>
              <a:gd name="connsiteY0-12" fmla="*/ 0 h 720636"/>
              <a:gd name="connsiteX1-13" fmla="*/ 1200944 w 1200944"/>
              <a:gd name="connsiteY1-14" fmla="*/ 0 h 720636"/>
              <a:gd name="connsiteX2-15" fmla="*/ 822325 w 1200944"/>
              <a:gd name="connsiteY2-16" fmla="*/ 720636 h 720636"/>
              <a:gd name="connsiteX3-17" fmla="*/ 0 w 1200944"/>
              <a:gd name="connsiteY3-18" fmla="*/ 720000 h 720636"/>
              <a:gd name="connsiteX4-19" fmla="*/ 0 w 1200944"/>
              <a:gd name="connsiteY4-20" fmla="*/ 0 h 720636"/>
              <a:gd name="connsiteX0-21" fmla="*/ 0 w 1200944"/>
              <a:gd name="connsiteY0-22" fmla="*/ 0 h 720636"/>
              <a:gd name="connsiteX1-23" fmla="*/ 1200944 w 1200944"/>
              <a:gd name="connsiteY1-24" fmla="*/ 0 h 720636"/>
              <a:gd name="connsiteX2-25" fmla="*/ 822325 w 1200944"/>
              <a:gd name="connsiteY2-26" fmla="*/ 720636 h 720636"/>
              <a:gd name="connsiteX3-27" fmla="*/ 0 w 1200944"/>
              <a:gd name="connsiteY3-28" fmla="*/ 720000 h 720636"/>
              <a:gd name="connsiteX4-29" fmla="*/ 0 w 1200944"/>
              <a:gd name="connsiteY4-30" fmla="*/ 0 h 720636"/>
              <a:gd name="connsiteX0-31" fmla="*/ 0 w 1374775"/>
              <a:gd name="connsiteY0-32" fmla="*/ 0 h 720636"/>
              <a:gd name="connsiteX1-33" fmla="*/ 1374775 w 1374775"/>
              <a:gd name="connsiteY1-34" fmla="*/ 0 h 720636"/>
              <a:gd name="connsiteX2-35" fmla="*/ 822325 w 1374775"/>
              <a:gd name="connsiteY2-36" fmla="*/ 720636 h 720636"/>
              <a:gd name="connsiteX3-37" fmla="*/ 0 w 1374775"/>
              <a:gd name="connsiteY3-38" fmla="*/ 720000 h 720636"/>
              <a:gd name="connsiteX4-39" fmla="*/ 0 w 1374775"/>
              <a:gd name="connsiteY4-40" fmla="*/ 0 h 720636"/>
              <a:gd name="connsiteX0-41" fmla="*/ 0 w 1374775"/>
              <a:gd name="connsiteY0-42" fmla="*/ 0 h 720636"/>
              <a:gd name="connsiteX1-43" fmla="*/ 1374775 w 1374775"/>
              <a:gd name="connsiteY1-44" fmla="*/ 0 h 720636"/>
              <a:gd name="connsiteX2-45" fmla="*/ 822325 w 1374775"/>
              <a:gd name="connsiteY2-46" fmla="*/ 720636 h 720636"/>
              <a:gd name="connsiteX3-47" fmla="*/ 0 w 1374775"/>
              <a:gd name="connsiteY3-48" fmla="*/ 720000 h 720636"/>
              <a:gd name="connsiteX4-49" fmla="*/ 0 w 1374775"/>
              <a:gd name="connsiteY4-50" fmla="*/ 0 h 720636"/>
              <a:gd name="connsiteX0-51" fmla="*/ 0 w 1374775"/>
              <a:gd name="connsiteY0-52" fmla="*/ 0 h 720636"/>
              <a:gd name="connsiteX1-53" fmla="*/ 1374775 w 1374775"/>
              <a:gd name="connsiteY1-54" fmla="*/ 0 h 720636"/>
              <a:gd name="connsiteX2-55" fmla="*/ 822325 w 1374775"/>
              <a:gd name="connsiteY2-56" fmla="*/ 720636 h 720636"/>
              <a:gd name="connsiteX3-57" fmla="*/ 0 w 1374775"/>
              <a:gd name="connsiteY3-58" fmla="*/ 720000 h 720636"/>
              <a:gd name="connsiteX4-59" fmla="*/ 0 w 1374775"/>
              <a:gd name="connsiteY4-60" fmla="*/ 0 h 720636"/>
              <a:gd name="connsiteX0-61" fmla="*/ 0 w 1374775"/>
              <a:gd name="connsiteY0-62" fmla="*/ 0 h 720636"/>
              <a:gd name="connsiteX1-63" fmla="*/ 1374775 w 1374775"/>
              <a:gd name="connsiteY1-64" fmla="*/ 0 h 720636"/>
              <a:gd name="connsiteX2-65" fmla="*/ 822325 w 1374775"/>
              <a:gd name="connsiteY2-66" fmla="*/ 720636 h 720636"/>
              <a:gd name="connsiteX3-67" fmla="*/ 0 w 1374775"/>
              <a:gd name="connsiteY3-68" fmla="*/ 720000 h 720636"/>
              <a:gd name="connsiteX4-69" fmla="*/ 0 w 1374775"/>
              <a:gd name="connsiteY4-70" fmla="*/ 0 h 720636"/>
              <a:gd name="connsiteX0-71" fmla="*/ 0 w 1374775"/>
              <a:gd name="connsiteY0-72" fmla="*/ 0 h 720636"/>
              <a:gd name="connsiteX1-73" fmla="*/ 1374775 w 1374775"/>
              <a:gd name="connsiteY1-74" fmla="*/ 0 h 720636"/>
              <a:gd name="connsiteX2-75" fmla="*/ 822325 w 1374775"/>
              <a:gd name="connsiteY2-76" fmla="*/ 720636 h 720636"/>
              <a:gd name="connsiteX3-77" fmla="*/ 0 w 1374775"/>
              <a:gd name="connsiteY3-78" fmla="*/ 720000 h 720636"/>
              <a:gd name="connsiteX4-79" fmla="*/ 0 w 1374775"/>
              <a:gd name="connsiteY4-80" fmla="*/ 0 h 72063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374775" h="720636">
                <a:moveTo>
                  <a:pt x="0" y="0"/>
                </a:moveTo>
                <a:lnTo>
                  <a:pt x="1374775" y="0"/>
                </a:lnTo>
                <a:cubicBezTo>
                  <a:pt x="1022351" y="211637"/>
                  <a:pt x="1105694" y="718550"/>
                  <a:pt x="822325" y="720636"/>
                </a:cubicBezTo>
                <a:lnTo>
                  <a:pt x="0" y="72000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00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cs"/>
              </a:rPr>
              <a:t>二</a:t>
            </a:r>
          </a:p>
        </p:txBody>
      </p:sp>
      <p:sp>
        <p:nvSpPr>
          <p:cNvPr id="10" name="矩形 44"/>
          <p:cNvSpPr/>
          <p:nvPr/>
        </p:nvSpPr>
        <p:spPr>
          <a:xfrm>
            <a:off x="4434581" y="3167389"/>
            <a:ext cx="4573688" cy="52322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GCAM-China-v8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</a:t>
            </a:r>
            <a:r>
              <a:rPr kumimoji="0" lang="zh-CN" altLang="en-US" sz="2800" b="1" i="0" u="none" strike="noStrike" kern="1200" cap="none" spc="225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主要功能</a:t>
            </a:r>
          </a:p>
        </p:txBody>
      </p:sp>
      <p:sp>
        <p:nvSpPr>
          <p:cNvPr id="11" name="矩形 45"/>
          <p:cNvSpPr/>
          <p:nvPr/>
        </p:nvSpPr>
        <p:spPr>
          <a:xfrm>
            <a:off x="2908014" y="4118693"/>
            <a:ext cx="6375971" cy="69075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  <a:effectLst>
            <a:outerShdw blurRad="635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矩形 23"/>
          <p:cNvSpPr/>
          <p:nvPr/>
        </p:nvSpPr>
        <p:spPr>
          <a:xfrm>
            <a:off x="2908015" y="4118693"/>
            <a:ext cx="1317769" cy="690754"/>
          </a:xfrm>
          <a:custGeom>
            <a:avLst/>
            <a:gdLst>
              <a:gd name="connsiteX0" fmla="*/ 0 w 1200944"/>
              <a:gd name="connsiteY0" fmla="*/ 0 h 720000"/>
              <a:gd name="connsiteX1" fmla="*/ 1200944 w 1200944"/>
              <a:gd name="connsiteY1" fmla="*/ 0 h 720000"/>
              <a:gd name="connsiteX2" fmla="*/ 1200944 w 1200944"/>
              <a:gd name="connsiteY2" fmla="*/ 720000 h 720000"/>
              <a:gd name="connsiteX3" fmla="*/ 0 w 1200944"/>
              <a:gd name="connsiteY3" fmla="*/ 720000 h 720000"/>
              <a:gd name="connsiteX4" fmla="*/ 0 w 1200944"/>
              <a:gd name="connsiteY4" fmla="*/ 0 h 720000"/>
              <a:gd name="connsiteX0-1" fmla="*/ 0 w 1200944"/>
              <a:gd name="connsiteY0-2" fmla="*/ 0 h 720636"/>
              <a:gd name="connsiteX1-3" fmla="*/ 1200944 w 1200944"/>
              <a:gd name="connsiteY1-4" fmla="*/ 0 h 720636"/>
              <a:gd name="connsiteX2-5" fmla="*/ 1200944 w 1200944"/>
              <a:gd name="connsiteY2-6" fmla="*/ 720000 h 720636"/>
              <a:gd name="connsiteX3-7" fmla="*/ 822325 w 1200944"/>
              <a:gd name="connsiteY3-8" fmla="*/ 720636 h 720636"/>
              <a:gd name="connsiteX4-9" fmla="*/ 0 w 1200944"/>
              <a:gd name="connsiteY4-10" fmla="*/ 720000 h 720636"/>
              <a:gd name="connsiteX5" fmla="*/ 0 w 1200944"/>
              <a:gd name="connsiteY5" fmla="*/ 0 h 720636"/>
              <a:gd name="connsiteX0-11" fmla="*/ 0 w 1200944"/>
              <a:gd name="connsiteY0-12" fmla="*/ 0 h 720636"/>
              <a:gd name="connsiteX1-13" fmla="*/ 1200944 w 1200944"/>
              <a:gd name="connsiteY1-14" fmla="*/ 0 h 720636"/>
              <a:gd name="connsiteX2-15" fmla="*/ 822325 w 1200944"/>
              <a:gd name="connsiteY2-16" fmla="*/ 720636 h 720636"/>
              <a:gd name="connsiteX3-17" fmla="*/ 0 w 1200944"/>
              <a:gd name="connsiteY3-18" fmla="*/ 720000 h 720636"/>
              <a:gd name="connsiteX4-19" fmla="*/ 0 w 1200944"/>
              <a:gd name="connsiteY4-20" fmla="*/ 0 h 720636"/>
              <a:gd name="connsiteX0-21" fmla="*/ 0 w 1200944"/>
              <a:gd name="connsiteY0-22" fmla="*/ 0 h 720636"/>
              <a:gd name="connsiteX1-23" fmla="*/ 1200944 w 1200944"/>
              <a:gd name="connsiteY1-24" fmla="*/ 0 h 720636"/>
              <a:gd name="connsiteX2-25" fmla="*/ 822325 w 1200944"/>
              <a:gd name="connsiteY2-26" fmla="*/ 720636 h 720636"/>
              <a:gd name="connsiteX3-27" fmla="*/ 0 w 1200944"/>
              <a:gd name="connsiteY3-28" fmla="*/ 720000 h 720636"/>
              <a:gd name="connsiteX4-29" fmla="*/ 0 w 1200944"/>
              <a:gd name="connsiteY4-30" fmla="*/ 0 h 720636"/>
              <a:gd name="connsiteX0-31" fmla="*/ 0 w 1374775"/>
              <a:gd name="connsiteY0-32" fmla="*/ 0 h 720636"/>
              <a:gd name="connsiteX1-33" fmla="*/ 1374775 w 1374775"/>
              <a:gd name="connsiteY1-34" fmla="*/ 0 h 720636"/>
              <a:gd name="connsiteX2-35" fmla="*/ 822325 w 1374775"/>
              <a:gd name="connsiteY2-36" fmla="*/ 720636 h 720636"/>
              <a:gd name="connsiteX3-37" fmla="*/ 0 w 1374775"/>
              <a:gd name="connsiteY3-38" fmla="*/ 720000 h 720636"/>
              <a:gd name="connsiteX4-39" fmla="*/ 0 w 1374775"/>
              <a:gd name="connsiteY4-40" fmla="*/ 0 h 720636"/>
              <a:gd name="connsiteX0-41" fmla="*/ 0 w 1374775"/>
              <a:gd name="connsiteY0-42" fmla="*/ 0 h 720636"/>
              <a:gd name="connsiteX1-43" fmla="*/ 1374775 w 1374775"/>
              <a:gd name="connsiteY1-44" fmla="*/ 0 h 720636"/>
              <a:gd name="connsiteX2-45" fmla="*/ 822325 w 1374775"/>
              <a:gd name="connsiteY2-46" fmla="*/ 720636 h 720636"/>
              <a:gd name="connsiteX3-47" fmla="*/ 0 w 1374775"/>
              <a:gd name="connsiteY3-48" fmla="*/ 720000 h 720636"/>
              <a:gd name="connsiteX4-49" fmla="*/ 0 w 1374775"/>
              <a:gd name="connsiteY4-50" fmla="*/ 0 h 720636"/>
              <a:gd name="connsiteX0-51" fmla="*/ 0 w 1374775"/>
              <a:gd name="connsiteY0-52" fmla="*/ 0 h 720636"/>
              <a:gd name="connsiteX1-53" fmla="*/ 1374775 w 1374775"/>
              <a:gd name="connsiteY1-54" fmla="*/ 0 h 720636"/>
              <a:gd name="connsiteX2-55" fmla="*/ 822325 w 1374775"/>
              <a:gd name="connsiteY2-56" fmla="*/ 720636 h 720636"/>
              <a:gd name="connsiteX3-57" fmla="*/ 0 w 1374775"/>
              <a:gd name="connsiteY3-58" fmla="*/ 720000 h 720636"/>
              <a:gd name="connsiteX4-59" fmla="*/ 0 w 1374775"/>
              <a:gd name="connsiteY4-60" fmla="*/ 0 h 720636"/>
              <a:gd name="connsiteX0-61" fmla="*/ 0 w 1374775"/>
              <a:gd name="connsiteY0-62" fmla="*/ 0 h 720636"/>
              <a:gd name="connsiteX1-63" fmla="*/ 1374775 w 1374775"/>
              <a:gd name="connsiteY1-64" fmla="*/ 0 h 720636"/>
              <a:gd name="connsiteX2-65" fmla="*/ 822325 w 1374775"/>
              <a:gd name="connsiteY2-66" fmla="*/ 720636 h 720636"/>
              <a:gd name="connsiteX3-67" fmla="*/ 0 w 1374775"/>
              <a:gd name="connsiteY3-68" fmla="*/ 720000 h 720636"/>
              <a:gd name="connsiteX4-69" fmla="*/ 0 w 1374775"/>
              <a:gd name="connsiteY4-70" fmla="*/ 0 h 720636"/>
              <a:gd name="connsiteX0-71" fmla="*/ 0 w 1374775"/>
              <a:gd name="connsiteY0-72" fmla="*/ 0 h 720636"/>
              <a:gd name="connsiteX1-73" fmla="*/ 1374775 w 1374775"/>
              <a:gd name="connsiteY1-74" fmla="*/ 0 h 720636"/>
              <a:gd name="connsiteX2-75" fmla="*/ 822325 w 1374775"/>
              <a:gd name="connsiteY2-76" fmla="*/ 720636 h 720636"/>
              <a:gd name="connsiteX3-77" fmla="*/ 0 w 1374775"/>
              <a:gd name="connsiteY3-78" fmla="*/ 720000 h 720636"/>
              <a:gd name="connsiteX4-79" fmla="*/ 0 w 1374775"/>
              <a:gd name="connsiteY4-80" fmla="*/ 0 h 72063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374775" h="720636">
                <a:moveTo>
                  <a:pt x="0" y="0"/>
                </a:moveTo>
                <a:lnTo>
                  <a:pt x="1374775" y="0"/>
                </a:lnTo>
                <a:cubicBezTo>
                  <a:pt x="1022351" y="211637"/>
                  <a:pt x="1105694" y="718550"/>
                  <a:pt x="822325" y="720636"/>
                </a:cubicBezTo>
                <a:lnTo>
                  <a:pt x="0" y="72000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00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cs"/>
              </a:rPr>
              <a:t>三</a:t>
            </a:r>
          </a:p>
        </p:txBody>
      </p:sp>
      <p:sp>
        <p:nvSpPr>
          <p:cNvPr id="13" name="矩形 47"/>
          <p:cNvSpPr/>
          <p:nvPr/>
        </p:nvSpPr>
        <p:spPr>
          <a:xfrm>
            <a:off x="4434581" y="4202459"/>
            <a:ext cx="4063933" cy="52322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225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国家情景数据体系建设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9904A8F-8CAA-64B4-9B68-BC3425979DED}"/>
              </a:ext>
            </a:extLst>
          </p:cNvPr>
          <p:cNvSpPr txBox="1">
            <a:spLocks/>
          </p:cNvSpPr>
          <p:nvPr/>
        </p:nvSpPr>
        <p:spPr>
          <a:xfrm>
            <a:off x="11647856" y="6492875"/>
            <a:ext cx="542692" cy="365125"/>
          </a:xfrm>
          <a:prstGeom prst="rect">
            <a:avLst/>
          </a:prstGeom>
        </p:spPr>
        <p:txBody>
          <a:bodyPr anchor="b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B0AA3D-93D0-7347-9C20-FCF20636792D}" type="slidenum">
              <a:rPr kumimoji="1" lang="zh-CN" altLang="en-US" sz="11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D26A9-563E-30B3-1BA7-3FEDB0462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A-矩形 7">
            <a:extLst>
              <a:ext uri="{FF2B5EF4-FFF2-40B4-BE49-F238E27FC236}">
                <a16:creationId xmlns:a16="http://schemas.microsoft.com/office/drawing/2014/main" id="{24C34653-2631-F909-9436-3E8BC54CAF59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91330" y="116632"/>
            <a:ext cx="1029097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GCAM-China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 辅助工具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–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 高性能计算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/>
              <a:ea typeface="微软雅黑"/>
              <a:cs typeface="+mn-ea"/>
              <a:sym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B92677-87FC-ED55-BF70-D5389B4D1E76}"/>
              </a:ext>
            </a:extLst>
          </p:cNvPr>
          <p:cNvSpPr txBox="1"/>
          <p:nvPr/>
        </p:nvSpPr>
        <p:spPr>
          <a:xfrm>
            <a:off x="6409320" y="980735"/>
            <a:ext cx="5530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  <a:hlinkClick r:id="rId4"/>
              </a:rPr>
              <a:t>https://github.com/jerrysong0128/gcam-hpc-PKU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1F199B-AA59-075B-207C-66EA3F620091}"/>
              </a:ext>
            </a:extLst>
          </p:cNvPr>
          <p:cNvSpPr txBox="1"/>
          <p:nvPr/>
        </p:nvSpPr>
        <p:spPr>
          <a:xfrm>
            <a:off x="397951" y="6480000"/>
            <a:ext cx="4491018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宋京阳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jerrysong2025@stu.pku.edu.cn</a:t>
            </a:r>
            <a:endParaRPr kumimoji="0" lang="en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6" name="Picture 15" descr="GCAM-HPC parallel scenario execution">
            <a:extLst>
              <a:ext uri="{FF2B5EF4-FFF2-40B4-BE49-F238E27FC236}">
                <a16:creationId xmlns:a16="http://schemas.microsoft.com/office/drawing/2014/main" id="{8BE74F7F-3B17-95FC-AE71-A25874477E8B}"/>
              </a:ext>
            </a:extLst>
          </p:cNvPr>
          <p:cNvPicPr>
            <a:picLocks noChangeAspect="1"/>
          </p:cNvPicPr>
          <p:nvPr/>
        </p:nvPicPr>
        <p:blipFill>
          <a:blip r:embed="Rd734edb2bef542c9"/>
          <a:stretch>
            <a:fillRect/>
          </a:stretch>
        </p:blipFill>
        <p:spPr>
          <a:xfrm>
            <a:off x="1584000" y="792000"/>
            <a:ext cx="9000000" cy="5569200"/>
          </a:xfrm>
          <a:prstGeom prst="rect">
            <a:avLst/>
          </a:prstGeom>
        </p:spPr>
      </p:pic>
      <p:sp>
        <p:nvSpPr>
          <p:cNvPr id="30" name="Slide Number Placeholder 3">
            <a:extLst>
              <a:ext uri="{FF2B5EF4-FFF2-40B4-BE49-F238E27FC236}">
                <a16:creationId xmlns:a16="http://schemas.microsoft.com/office/drawing/2014/main" id="{2D97F283-B94B-888C-BE10-1FBF43055643}"/>
              </a:ext>
            </a:extLst>
          </p:cNvPr>
          <p:cNvSpPr txBox="1">
            <a:spLocks/>
          </p:cNvSpPr>
          <p:nvPr/>
        </p:nvSpPr>
        <p:spPr>
          <a:xfrm>
            <a:off x="11647856" y="6492875"/>
            <a:ext cx="542692" cy="365125"/>
          </a:xfrm>
          <a:prstGeom prst="rect">
            <a:avLst/>
          </a:prstGeom>
        </p:spPr>
        <p:txBody>
          <a:bodyPr anchor="b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B0AA3D-93D0-7347-9C20-FCF20636792D}" type="slidenum">
              <a:rPr kumimoji="1" lang="zh-CN" altLang="en-US" sz="11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" name="箭头: 右 11">
            <a:extLst>
              <a:ext uri="{FF2B5EF4-FFF2-40B4-BE49-F238E27FC236}">
                <a16:creationId xmlns:a16="http://schemas.microsoft.com/office/drawing/2014/main" id="{F25A4288-5763-AEFB-BD11-A7B8B2B5D47A}"/>
              </a:ext>
            </a:extLst>
          </p:cNvPr>
          <p:cNvSpPr/>
          <p:nvPr/>
        </p:nvSpPr>
        <p:spPr>
          <a:xfrm rot="5400000">
            <a:off x="11121976" y="3713131"/>
            <a:ext cx="671006" cy="445489"/>
          </a:xfrm>
          <a:prstGeom prst="rightArrow">
            <a:avLst/>
          </a:prstGeom>
          <a:solidFill>
            <a:srgbClr val="004A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3631328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491330" y="116632"/>
            <a:ext cx="11209340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000" b="1">
                <a:solidFill>
                  <a:srgbClr val="000000"/>
                </a:solidFill>
                <a:latin typeface="Arial"/>
                <a:ea typeface="微软雅黑"/>
              </a:rPr>
              <a:t>工具总览：BUILD · RUN · QUERY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491330" y="792000"/>
            <a:ext cx="11209340" cy="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B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11647856" y="6493000"/>
            <a:ext cx="42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lang="en-US" sz="1100">
                <a:solidFill>
                  <a:srgbClr val="808080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491330" y="980000"/>
            <a:ext cx="11209340" cy="4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400"/>
              </a:spcAft>
            </a:pPr>
            <a:r>
              <a:rPr lang="en-US" sz="1400" b="0">
                <a:solidFill>
                  <a:srgbClr val="595959"/>
                </a:solidFill>
                <a:latin typeface="Arial"/>
                <a:ea typeface="微软雅黑"/>
              </a:rPr>
              <a:t>讲解按 BUILD—RUN—QUERY 展开；但执行时必须先配置 QUERY，再提交 RUN。</a:t>
            </a:r>
          </a:p>
        </p:txBody>
      </p:sp>
      <p:sp>
        <p:nvSpPr>
          <p:cNvPr id="100004" name="TextBox 5"/>
          <p:cNvSpPr/>
          <p:nvPr/>
        </p:nvSpPr>
        <p:spPr>
          <a:xfrm xmlns:a="http://schemas.openxmlformats.org/drawingml/2006/main">
            <a:off x="491330" y="1720000"/>
            <a:ext cx="3549780" cy="262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12700">
            <a:solidFill>
              <a:srgbClr val="C9CDD4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/>
        </p:txBody>
      </p:sp>
      <p:sp>
        <p:nvSpPr>
          <p:cNvPr id="100005" name="TextBox 6"/>
          <p:cNvSpPr txBox="1"/>
          <p:nvPr/>
        </p:nvSpPr>
        <p:spPr>
          <a:xfrm xmlns:a="http://schemas.openxmlformats.org/drawingml/2006/main">
            <a:off x="701330" y="1870000"/>
            <a:ext cx="3129780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800" b="1">
                <a:solidFill>
                  <a:srgbClr val="004AB8"/>
                </a:solidFill>
                <a:latin typeface="Arial"/>
                <a:ea typeface="微软雅黑"/>
              </a:rPr>
              <a:t>① BUILD  编译</a:t>
            </a:r>
          </a:p>
        </p:txBody>
      </p:sp>
      <p:sp>
        <p:nvSpPr>
          <p:cNvPr id="100006" name="TextBox 7"/>
          <p:cNvSpPr txBox="1"/>
          <p:nvPr/>
        </p:nvSpPr>
        <p:spPr>
          <a:xfrm xmlns:a="http://schemas.openxmlformats.org/drawingml/2006/main">
            <a:off x="701330" y="2340000"/>
            <a:ext cx="3129780" cy="18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sz="1450" b="0">
                <a:solidFill>
                  <a:srgbClr val="333333"/>
                </a:solidFill>
                <a:latin typeface="Arial"/>
                <a:ea typeface="微软雅黑"/>
              </a:rPr>
              <a:t>本地下载并上传 GCAM 源码，解压 HPC 依赖，统一加载 environment.sh 后编译。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sz="1450" b="0">
                <a:solidFill>
                  <a:srgbClr val="333333"/>
                </a:solidFill>
                <a:latin typeface="Arial"/>
                <a:ea typeface="微软雅黑"/>
              </a:rPr>
              <a:t/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sz="1450" b="0">
                <a:solidFill>
                  <a:srgbClr val="333333"/>
                </a:solidFill>
                <a:latin typeface="Arial"/>
                <a:ea typeface="微软雅黑"/>
              </a:rPr>
              <a:t>适配 gcam-core / gcam-china，自动识别源码目录。</a:t>
            </a:r>
          </a:p>
        </p:txBody>
      </p:sp>
      <p:sp>
        <p:nvSpPr>
          <p:cNvPr id="100007" name="TextBox 8"/>
          <p:cNvSpPr/>
          <p:nvPr/>
        </p:nvSpPr>
        <p:spPr>
          <a:xfrm xmlns:a="http://schemas.openxmlformats.org/drawingml/2006/main">
            <a:off x="4321110" y="1720000"/>
            <a:ext cx="3549780" cy="262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12700">
            <a:solidFill>
              <a:srgbClr val="C9CDD4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/>
        </p:txBody>
      </p:sp>
      <p:sp>
        <p:nvSpPr>
          <p:cNvPr id="100008" name="TextBox 9"/>
          <p:cNvSpPr txBox="1"/>
          <p:nvPr/>
        </p:nvSpPr>
        <p:spPr>
          <a:xfrm xmlns:a="http://schemas.openxmlformats.org/drawingml/2006/main">
            <a:off x="4531110" y="1870000"/>
            <a:ext cx="3129780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800" b="1">
                <a:solidFill>
                  <a:srgbClr val="004AB8"/>
                </a:solidFill>
                <a:latin typeface="Arial"/>
                <a:ea typeface="微软雅黑"/>
              </a:rPr>
              <a:t>② RUN  运行</a:t>
            </a:r>
          </a:p>
        </p:txBody>
      </p:sp>
      <p:sp>
        <p:nvSpPr>
          <p:cNvPr id="100009" name="TextBox 10"/>
          <p:cNvSpPr txBox="1"/>
          <p:nvPr/>
        </p:nvSpPr>
        <p:spPr>
          <a:xfrm xmlns:a="http://schemas.openxmlformats.org/drawingml/2006/main">
            <a:off x="4531110" y="2340000"/>
            <a:ext cx="3129780" cy="18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sz="1450" b="0">
                <a:solidFill>
                  <a:srgbClr val="333333"/>
                </a:solidFill>
                <a:latin typeface="Arial"/>
                <a:ea typeface="微软雅黑"/>
              </a:rPr>
              <a:t>run-pipeline.sh 同步输入与预配置 QUERY，生成情景和 Slurm 作业；每个情景运行后执行同一组查询。</a:t>
            </a:r>
          </a:p>
        </p:txBody>
      </p:sp>
      <p:sp>
        <p:nvSpPr>
          <p:cNvPr id="100010" name="TextBox 11"/>
          <p:cNvSpPr/>
          <p:nvPr/>
        </p:nvSpPr>
        <p:spPr>
          <a:xfrm xmlns:a="http://schemas.openxmlformats.org/drawingml/2006/main">
            <a:off x="8150890" y="1720000"/>
            <a:ext cx="3549780" cy="262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12700">
            <a:solidFill>
              <a:srgbClr val="C9CDD4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/>
        </p:txBody>
      </p:sp>
      <p:sp>
        <p:nvSpPr>
          <p:cNvPr id="100011" name="TextBox 12"/>
          <p:cNvSpPr txBox="1"/>
          <p:nvPr/>
        </p:nvSpPr>
        <p:spPr>
          <a:xfrm xmlns:a="http://schemas.openxmlformats.org/drawingml/2006/main">
            <a:off x="8360890" y="1870000"/>
            <a:ext cx="3129780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800" b="1">
                <a:solidFill>
                  <a:srgbClr val="004AB8"/>
                </a:solidFill>
                <a:latin typeface="Arial"/>
                <a:ea typeface="微软雅黑"/>
              </a:rPr>
              <a:t>③ QUERY  查询逻辑</a:t>
            </a:r>
          </a:p>
        </p:txBody>
      </p:sp>
      <p:sp>
        <p:nvSpPr>
          <p:cNvPr id="100012" name="TextBox 13"/>
          <p:cNvSpPr txBox="1"/>
          <p:nvPr/>
        </p:nvSpPr>
        <p:spPr>
          <a:xfrm xmlns:a="http://schemas.openxmlformats.org/drawingml/2006/main">
            <a:off x="8360890" y="2340000"/>
            <a:ext cx="3129780" cy="18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sz="1450" b="0">
                <a:solidFill>
                  <a:srgbClr val="333333"/>
                </a:solidFill>
                <a:latin typeface="Arial"/>
                <a:ea typeface="微软雅黑"/>
              </a:rPr>
              <a:t>QUERY 不是 RUN 后再设置：查询 XML 须提前写好；所有情景查询 CSV 最终自动合并为一个文件。</a:t>
            </a:r>
          </a:p>
        </p:txBody>
      </p:sp>
      <p:sp>
        <p:nvSpPr>
          <p:cNvPr id="100013" name="TextBox 14"/>
          <p:cNvSpPr txBox="1"/>
          <p:nvPr/>
        </p:nvSpPr>
        <p:spPr>
          <a:xfrm xmlns:a="http://schemas.openxmlformats.org/drawingml/2006/main">
            <a:off x="491330" y="4590000"/>
            <a:ext cx="11209340" cy="3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600" b="1">
                <a:solidFill>
                  <a:srgbClr val="004AB8"/>
                </a:solidFill>
                <a:latin typeface="Arial"/>
                <a:ea typeface="微软雅黑"/>
              </a:rPr>
              <a:t>统一环境变量</a:t>
            </a:r>
          </a:p>
        </p:txBody>
      </p:sp>
      <p:sp>
        <p:nvSpPr>
          <p:cNvPr id="100014" name="TextBox 15"/>
          <p:cNvSpPr txBox="1"/>
          <p:nvPr/>
        </p:nvSpPr>
        <p:spPr>
          <a:xfrm xmlns:a="http://schemas.openxmlformats.org/drawingml/2006/main">
            <a:off x="491330" y="4950000"/>
            <a:ext cx="11209340" cy="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5D9DF"/>
            </a:solidFill>
          </a:ln>
        </p:spPr>
        <p:txBody>
          <a:bodyPr xmlns:a="http://schemas.openxmlformats.org/drawingml/2006/main" wrap="square" lIns="146304" tIns="146304" rIns="146304" bIns="146304" anchor="t">
            <a:normAutofit/>
          </a:bodyPr>
          <a:lstStyle xmlns:a="http://schemas.openxmlformats.org/drawingml/2006/main"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400" b="0">
                <a:solidFill>
                  <a:srgbClr val="1A1A1A"/>
                </a:solidFill>
                <a:latin typeface="Consolas"/>
                <a:ea typeface="Consolas"/>
              </a:rPr>
              <a:t>GCAM_HPC_WORKSPACE   # 仓库根目录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400" b="0">
                <a:solidFill>
                  <a:srgbClr val="1A1A1A"/>
                </a:solidFill>
                <a:latin typeface="Consolas"/>
                <a:ea typeface="Consolas"/>
              </a:rPr>
              <a:t>GCAM_HPC_CLUSTER     # wm1 / wm2 / 自定义 profile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5" name="TextBox 1"/>
          <p:cNvSpPr txBox="1"/>
          <p:nvPr/>
        </p:nvSpPr>
        <p:spPr>
          <a:xfrm xmlns:a="http://schemas.openxmlformats.org/drawingml/2006/main">
            <a:off x="491330" y="116632"/>
            <a:ext cx="11209340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000" b="1">
                <a:solidFill>
                  <a:srgbClr val="000000"/>
                </a:solidFill>
                <a:latin typeface="Arial"/>
                <a:ea typeface="微软雅黑"/>
              </a:rPr>
              <a:t>仓库目录结构</a:t>
            </a:r>
          </a:p>
        </p:txBody>
      </p:sp>
      <p:sp>
        <p:nvSpPr>
          <p:cNvPr id="100016" name="TextBox 2"/>
          <p:cNvSpPr txBox="1"/>
          <p:nvPr/>
        </p:nvSpPr>
        <p:spPr>
          <a:xfrm xmlns:a="http://schemas.openxmlformats.org/drawingml/2006/main">
            <a:off x="491330" y="792000"/>
            <a:ext cx="11209340" cy="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B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7" name="TextBox 3"/>
          <p:cNvSpPr txBox="1"/>
          <p:nvPr/>
        </p:nvSpPr>
        <p:spPr>
          <a:xfrm xmlns:a="http://schemas.openxmlformats.org/drawingml/2006/main">
            <a:off x="11647856" y="6493000"/>
            <a:ext cx="42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lang="en-US" sz="1100">
                <a:solidFill>
                  <a:srgbClr val="808080"/>
                </a:solidFill>
                <a:latin typeface="Arial"/>
                <a:ea typeface="微软雅黑"/>
              </a:rPr>
              <a:t>5</a:t>
            </a:r>
          </a:p>
        </p:txBody>
      </p:sp>
      <p:sp>
        <p:nvSpPr>
          <p:cNvPr id="100018" name="TextBox 4"/>
          <p:cNvSpPr txBox="1"/>
          <p:nvPr/>
        </p:nvSpPr>
        <p:spPr>
          <a:xfrm xmlns:a="http://schemas.openxmlformats.org/drawingml/2006/main">
            <a:off x="491330" y="980000"/>
            <a:ext cx="11209340" cy="4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600" b="0">
                <a:solidFill>
                  <a:srgbClr val="595959"/>
                </a:solidFill>
                <a:latin typeface="Arial"/>
                <a:ea typeface="微软雅黑"/>
              </a:rPr>
              <a:t>所有脚本围绕以下目录组织，理解目录职责是理解操作流程的前提。</a:t>
            </a:r>
          </a:p>
        </p:txBody>
      </p:sp>
      <p:sp>
        <p:nvSpPr>
          <p:cNvPr id="100019" name="TextBox 5"/>
          <p:cNvSpPr txBox="1"/>
          <p:nvPr/>
        </p:nvSpPr>
        <p:spPr>
          <a:xfrm xmlns:a="http://schemas.openxmlformats.org/drawingml/2006/main">
            <a:off x="491330" y="1500000"/>
            <a:ext cx="11209340" cy="30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5D9DF"/>
            </a:solidFill>
          </a:ln>
        </p:spPr>
        <p:txBody>
          <a:bodyPr xmlns:a="http://schemas.openxmlformats.org/drawingml/2006/main" wrap="square" lIns="146304" tIns="146304" rIns="146304" bIns="146304" anchor="t"/>
          <a:lstStyle xmlns:a="http://schemas.openxmlformats.org/drawingml/2006/main"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350" b="0">
                <a:solidFill>
                  <a:srgbClr val="1A1A1A"/>
                </a:solidFill>
                <a:latin typeface="Consolas"/>
                <a:ea typeface="Consolas"/>
              </a:rPr>
              <a:t>gcam-hpc-PKU/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350" b="0">
                <a:solidFill>
                  <a:srgbClr val="1A1A1A"/>
                </a:solidFill>
                <a:latin typeface="Consolas"/>
                <a:ea typeface="Consolas"/>
              </a:rPr>
              <a:t>├─ gcam-core/ 或 gcam-china-*/       GCAM 源码与编译产物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350" b="0">
                <a:solidFill>
                  <a:srgbClr val="1A1A1A"/>
                </a:solidFill>
                <a:latin typeface="Consolas"/>
                <a:ea typeface="Consolas"/>
              </a:rPr>
              <a:t>├─ gcam-hpc-tools/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350" b="0">
                <a:solidFill>
                  <a:srgbClr val="1A1A1A"/>
                </a:solidFill>
                <a:latin typeface="Consolas"/>
                <a:ea typeface="Consolas"/>
              </a:rPr>
              <a:t>│   ├─ build-tools/                  environment.sh · 依赖包 · profiles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350" b="0">
                <a:solidFill>
                  <a:srgbClr val="1A1A1A"/>
                </a:solidFill>
                <a:latin typeface="Consolas"/>
                <a:ea typeface="Consolas"/>
              </a:rPr>
              <a:t>│   ├─ run-pipeline.sh               同步 → 情景展开 → Slurm 提交 → 合并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350" b="0">
                <a:solidFill>
                  <a:srgbClr val="1A1A1A"/>
                </a:solidFill>
                <a:latin typeface="Consolas"/>
                <a:ea typeface="Consolas"/>
              </a:rPr>
              <a:t>│   ├─ run-tools/                    RUN、QUERY 执行与结果合并脚本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350" b="0">
                <a:solidFill>
                  <a:srgbClr val="1A1A1A"/>
                </a:solidFill>
                <a:latin typeface="Consolas"/>
                <a:ea typeface="Consolas"/>
              </a:rPr>
              <a:t>│   ├─ configuration-sets/           配置模板与 batch XML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350" b="0">
                <a:solidFill>
                  <a:srgbClr val="1A1A1A"/>
                </a:solidFill>
                <a:latin typeface="Consolas"/>
                <a:ea typeface="Consolas"/>
              </a:rPr>
              <a:t>│   └─ query-tools/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350" b="0">
                <a:solidFill>
                  <a:srgbClr val="1A1A1A"/>
                </a:solidFill>
                <a:latin typeface="Consolas"/>
                <a:ea typeface="Consolas"/>
              </a:rPr>
              <a:t>│       ├─ batch_query_generator/    QUERY 生成器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350" b="0">
                <a:solidFill>
                  <a:srgbClr val="1A1A1A"/>
                </a:solidFill>
                <a:latin typeface="Consolas"/>
                <a:ea typeface="Consolas"/>
              </a:rPr>
              <a:t>│       └─ user_batch_queries/       本地用户 QUERY XML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350" b="0">
                <a:solidFill>
                  <a:srgbClr val="1A1A1A"/>
                </a:solidFill>
                <a:latin typeface="Consolas"/>
                <a:ea typeface="Consolas"/>
              </a:rPr>
              <a:t>├─ gcam-runjob-log/                  Slurm 日志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350" b="0">
                <a:solidFill>
                  <a:srgbClr val="1A1A1A"/>
                </a:solidFill>
                <a:latin typeface="Consolas"/>
                <a:ea typeface="Consolas"/>
              </a:rPr>
              <a:t>└─ gcam-scratch/{input,output}/      运行输入与输出</a:t>
            </a:r>
          </a:p>
        </p:txBody>
      </p:sp>
      <p:sp>
        <p:nvSpPr>
          <p:cNvPr id="100020" name="TextBox 6"/>
          <p:cNvSpPr txBox="1"/>
          <p:nvPr/>
        </p:nvSpPr>
        <p:spPr>
          <a:xfrm xmlns:a="http://schemas.openxmlformats.org/drawingml/2006/main">
            <a:off x="491330" y="4720000"/>
            <a:ext cx="11209340" cy="4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400" b="0">
                <a:solidFill>
                  <a:srgbClr val="595959"/>
                </a:solidFill>
                <a:latin typeface="Arial"/>
                <a:ea typeface="微软雅黑"/>
              </a:rPr>
              <a:t>统一 source build-tools/environment.sh；运行产物和用户生成的 queries-*.xml 不上传 GitHub。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1" name="TextBox 1"/>
          <p:cNvSpPr txBox="1"/>
          <p:nvPr/>
        </p:nvSpPr>
        <p:spPr>
          <a:xfrm xmlns:a="http://schemas.openxmlformats.org/drawingml/2006/main">
            <a:off x="491330" y="116632"/>
            <a:ext cx="11209340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000" b="1">
                <a:solidFill>
                  <a:srgbClr val="000000"/>
                </a:solidFill>
                <a:latin typeface="Arial"/>
                <a:ea typeface="微软雅黑"/>
              </a:rPr>
              <a:t>环境准备：克隆仓库与配置工作区</a:t>
            </a:r>
          </a:p>
        </p:txBody>
      </p:sp>
      <p:sp>
        <p:nvSpPr>
          <p:cNvPr id="100022" name="TextBox 2"/>
          <p:cNvSpPr txBox="1"/>
          <p:nvPr/>
        </p:nvSpPr>
        <p:spPr>
          <a:xfrm xmlns:a="http://schemas.openxmlformats.org/drawingml/2006/main">
            <a:off x="491330" y="792000"/>
            <a:ext cx="11209340" cy="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B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3" name="TextBox 3"/>
          <p:cNvSpPr txBox="1"/>
          <p:nvPr/>
        </p:nvSpPr>
        <p:spPr>
          <a:xfrm xmlns:a="http://schemas.openxmlformats.org/drawingml/2006/main">
            <a:off x="11647856" y="6493000"/>
            <a:ext cx="42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lang="en-US" sz="1100">
                <a:solidFill>
                  <a:srgbClr val="808080"/>
                </a:solidFill>
                <a:latin typeface="Arial"/>
                <a:ea typeface="微软雅黑"/>
              </a:rPr>
              <a:t>6</a:t>
            </a:r>
          </a:p>
        </p:txBody>
      </p:sp>
      <p:sp>
        <p:nvSpPr>
          <p:cNvPr id="100024" name="TextBox 4"/>
          <p:cNvSpPr txBox="1"/>
          <p:nvPr/>
        </p:nvSpPr>
        <p:spPr>
          <a:xfrm xmlns:a="http://schemas.openxmlformats.org/drawingml/2006/main">
            <a:off x="491330" y="1040000"/>
            <a:ext cx="11209340" cy="3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600" b="1">
                <a:solidFill>
                  <a:srgbClr val="004AB8"/>
                </a:solidFill>
                <a:latin typeface="Arial"/>
                <a:ea typeface="微软雅黑"/>
              </a:rPr>
              <a:t>1 · 克隆工具仓库</a:t>
            </a:r>
          </a:p>
        </p:txBody>
      </p:sp>
      <p:sp>
        <p:nvSpPr>
          <p:cNvPr id="100025" name="TextBox 5"/>
          <p:cNvSpPr txBox="1"/>
          <p:nvPr/>
        </p:nvSpPr>
        <p:spPr>
          <a:xfrm xmlns:a="http://schemas.openxmlformats.org/drawingml/2006/main">
            <a:off x="491330" y="1390000"/>
            <a:ext cx="11209340" cy="8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5D9DF"/>
            </a:solidFill>
          </a:ln>
        </p:spPr>
        <p:txBody>
          <a:bodyPr xmlns:a="http://schemas.openxmlformats.org/drawingml/2006/main" wrap="square" lIns="146304" tIns="146304" rIns="146304" bIns="146304" anchor="t"/>
          <a:lstStyle xmlns:a="http://schemas.openxmlformats.org/drawingml/2006/main"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350" b="0">
                <a:solidFill>
                  <a:srgbClr val="1A1A1A"/>
                </a:solidFill>
                <a:latin typeface="Consolas"/>
                <a:ea typeface="Consolas"/>
              </a:rPr>
              <a:t>git clone https://github.com/jerrysong0128/gcam-hpc-PKU.git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350" b="0">
                <a:solidFill>
                  <a:srgbClr val="1A1A1A"/>
                </a:solidFill>
                <a:latin typeface="Consolas"/>
                <a:ea typeface="Consolas"/>
              </a:rPr>
              <a:t>cd gcam-hpc-PKU</a:t>
            </a:r>
          </a:p>
        </p:txBody>
      </p:sp>
      <p:sp>
        <p:nvSpPr>
          <p:cNvPr id="100026" name="TextBox 6"/>
          <p:cNvSpPr txBox="1"/>
          <p:nvPr/>
        </p:nvSpPr>
        <p:spPr>
          <a:xfrm xmlns:a="http://schemas.openxmlformats.org/drawingml/2006/main">
            <a:off x="491330" y="2380000"/>
            <a:ext cx="11209340" cy="3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600" b="1">
                <a:solidFill>
                  <a:srgbClr val="004AB8"/>
                </a:solidFill>
                <a:latin typeface="Arial"/>
                <a:ea typeface="微软雅黑"/>
              </a:rPr>
              <a:t>2 · 本地下载 GCAM 源码并上传超算</a:t>
            </a:r>
          </a:p>
        </p:txBody>
      </p:sp>
      <p:sp>
        <p:nvSpPr>
          <p:cNvPr id="100027" name="TextBox 7"/>
          <p:cNvSpPr txBox="1"/>
          <p:nvPr/>
        </p:nvSpPr>
        <p:spPr>
          <a:xfrm xmlns:a="http://schemas.openxmlformats.org/drawingml/2006/main">
            <a:off x="491330" y="2730000"/>
            <a:ext cx="11209340" cy="6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5D9DF"/>
            </a:solidFill>
          </a:ln>
        </p:spPr>
        <p:txBody>
          <a:bodyPr xmlns:a="http://schemas.openxmlformats.org/drawingml/2006/main" wrap="square" lIns="146304" tIns="146304" rIns="146304" bIns="146304" anchor="t">
            <a:normAutofit/>
          </a:bodyPr>
          <a:lstStyle xmlns:a="http://schemas.openxmlformats.org/drawingml/2006/main"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0">
                <a:solidFill>
                  <a:srgbClr val="1A1A1A"/>
                </a:solidFill>
                <a:latin typeface="Consolas"/>
                <a:ea typeface="Consolas"/>
              </a:rPr>
              <a:t>gcam-core:  github.com/JGCRI/gcam-core/releases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0">
                <a:solidFill>
                  <a:srgbClr val="1A1A1A"/>
                </a:solidFill>
                <a:latin typeface="Consolas"/>
                <a:ea typeface="Consolas"/>
              </a:rPr>
              <a:t>gcam-china: github.com/umd-cgs/gcam-china/releases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0">
                <a:solidFill>
                  <a:srgbClr val="1A1A1A"/>
                </a:solidFill>
                <a:latin typeface="Consolas"/>
                <a:ea typeface="Consolas"/>
              </a:rPr>
              <a:t># 上传并解压到仓库根目录；源码须包含 cvs/objects/build/linux</a:t>
            </a:r>
          </a:p>
        </p:txBody>
      </p:sp>
      <p:sp>
        <p:nvSpPr>
          <p:cNvPr id="100028" name="TextBox 8"/>
          <p:cNvSpPr txBox="1"/>
          <p:nvPr/>
        </p:nvSpPr>
        <p:spPr>
          <a:xfrm xmlns:a="http://schemas.openxmlformats.org/drawingml/2006/main">
            <a:off x="491330" y="3480000"/>
            <a:ext cx="11209340" cy="3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600" b="1">
                <a:solidFill>
                  <a:srgbClr val="004AB8"/>
                </a:solidFill>
                <a:latin typeface="Arial"/>
                <a:ea typeface="微软雅黑"/>
              </a:rPr>
              <a:t>3 · 解压依赖并加载统一环境</a:t>
            </a:r>
          </a:p>
        </p:txBody>
      </p:sp>
      <p:sp>
        <p:nvSpPr>
          <p:cNvPr id="100029" name="TextBox 9"/>
          <p:cNvSpPr txBox="1"/>
          <p:nvPr/>
        </p:nvSpPr>
        <p:spPr>
          <a:xfrm xmlns:a="http://schemas.openxmlformats.org/drawingml/2006/main">
            <a:off x="491330" y="3830000"/>
            <a:ext cx="11209340" cy="13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5D9DF"/>
            </a:solidFill>
          </a:ln>
        </p:spPr>
        <p:txBody>
          <a:bodyPr xmlns:a="http://schemas.openxmlformats.org/drawingml/2006/main" wrap="square" lIns="146304" tIns="146304" rIns="146304" bIns="146304" anchor="t">
            <a:normAutofit/>
          </a:bodyPr>
          <a:lstStyle xmlns:a="http://schemas.openxmlformats.org/drawingml/2006/main"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50" b="0">
                <a:solidFill>
                  <a:srgbClr val="1A1A1A"/>
                </a:solidFill>
                <a:latin typeface="Consolas"/>
                <a:ea typeface="Consolas"/>
              </a:rPr>
              <a:t>cd gcam-hpc-tools/build-tools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50" b="0">
                <a:solidFill>
                  <a:srgbClr val="1A1A1A"/>
                </a:solidFill>
                <a:latin typeface="Consolas"/>
                <a:ea typeface="Consolas"/>
              </a:rPr>
              <a:t>unzip gcam-hpc-pku-libs.zip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50" b="0">
                <a:solidFill>
                  <a:srgbClr val="1A1A1A"/>
                </a:solidFill>
                <a:latin typeface="Consolas"/>
                <a:ea typeface="Consolas"/>
              </a:rPr>
              <a:t>unzip archive/libs.zip             # 生成 libs/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50" b="0">
                <a:solidFill>
                  <a:srgbClr val="1A1A1A"/>
                </a:solidFill>
                <a:latin typeface="Consolas"/>
                <a:ea typeface="Consolas"/>
              </a:rPr>
              <a:t/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50" b="0">
                <a:solidFill>
                  <a:srgbClr val="1A1A1A"/>
                </a:solidFill>
                <a:latin typeface="Consolas"/>
                <a:ea typeface="Consolas"/>
              </a:rPr>
              <a:t>export GCAM_HPC_WORKSPACE=/absolute/path/to/gcam-hpc-PKU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50" b="0">
                <a:solidFill>
                  <a:srgbClr val="1A1A1A"/>
                </a:solidFill>
                <a:latin typeface="Consolas"/>
                <a:ea typeface="Consolas"/>
              </a:rPr>
              <a:t>export GCAM_HPC_CLUSTER=wm2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50" b="0">
                <a:solidFill>
                  <a:srgbClr val="1A1A1A"/>
                </a:solidFill>
                <a:latin typeface="Consolas"/>
                <a:ea typeface="Consolas"/>
              </a:rPr>
              <a:t>source environment.sh</a:t>
            </a:r>
          </a:p>
        </p:txBody>
      </p:sp>
      <p:sp>
        <p:nvSpPr>
          <p:cNvPr id="100030" name="TextBox 10"/>
          <p:cNvSpPr txBox="1"/>
          <p:nvPr/>
        </p:nvSpPr>
        <p:spPr>
          <a:xfrm xmlns:a="http://schemas.openxmlformats.org/drawingml/2006/main">
            <a:off x="491330" y="5280000"/>
            <a:ext cx="11209340" cy="5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350" b="0">
                <a:solidFill>
                  <a:srgbClr val="595959"/>
                </a:solidFill>
                <a:latin typeface="Arial"/>
                <a:ea typeface="微软雅黑"/>
              </a:rPr>
              <a:t>environment.sh 自动识别 gcam-core / gcam-china 源码目录，并加载 profiles/&lt;cluster&gt;.profile。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31" name="TextBox 1"/>
          <p:cNvSpPr txBox="1"/>
          <p:nvPr/>
        </p:nvSpPr>
        <p:spPr>
          <a:xfrm xmlns:a="http://schemas.openxmlformats.org/drawingml/2006/main">
            <a:off x="491330" y="116632"/>
            <a:ext cx="11209340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000" b="1">
                <a:solidFill>
                  <a:srgbClr val="000000"/>
                </a:solidFill>
                <a:latin typeface="Arial"/>
                <a:ea typeface="微软雅黑"/>
              </a:rPr>
              <a:t>① BUILD：编译生成 gcam.exe</a:t>
            </a:r>
          </a:p>
        </p:txBody>
      </p:sp>
      <p:sp>
        <p:nvSpPr>
          <p:cNvPr id="100032" name="TextBox 2"/>
          <p:cNvSpPr txBox="1"/>
          <p:nvPr/>
        </p:nvSpPr>
        <p:spPr>
          <a:xfrm xmlns:a="http://schemas.openxmlformats.org/drawingml/2006/main">
            <a:off x="491330" y="792000"/>
            <a:ext cx="11209340" cy="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B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3" name="TextBox 3"/>
          <p:cNvSpPr txBox="1"/>
          <p:nvPr/>
        </p:nvSpPr>
        <p:spPr>
          <a:xfrm xmlns:a="http://schemas.openxmlformats.org/drawingml/2006/main">
            <a:off x="11647856" y="6493000"/>
            <a:ext cx="42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lang="en-US" sz="1100">
                <a:solidFill>
                  <a:srgbClr val="808080"/>
                </a:solidFill>
                <a:latin typeface="Arial"/>
                <a:ea typeface="微软雅黑"/>
              </a:rPr>
              <a:t>7</a:t>
            </a:r>
          </a:p>
        </p:txBody>
      </p:sp>
      <p:sp>
        <p:nvSpPr>
          <p:cNvPr id="100034" name="TextBox 4"/>
          <p:cNvSpPr/>
          <p:nvPr/>
        </p:nvSpPr>
        <p:spPr>
          <a:xfrm xmlns:a="http://schemas.openxmlformats.org/drawingml/2006/main">
            <a:off x="491330" y="1020000"/>
            <a:ext cx="5464670" cy="118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12700">
            <a:solidFill>
              <a:srgbClr val="C9CDD4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/>
        </p:txBody>
      </p:sp>
      <p:sp>
        <p:nvSpPr>
          <p:cNvPr id="100035" name="TextBox 5"/>
          <p:cNvSpPr txBox="1"/>
          <p:nvPr/>
        </p:nvSpPr>
        <p:spPr>
          <a:xfrm xmlns:a="http://schemas.openxmlformats.org/drawingml/2006/main">
            <a:off x="701330" y="1170000"/>
            <a:ext cx="5044670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800" b="1">
                <a:solidFill>
                  <a:srgbClr val="004AB8"/>
                </a:solidFill>
                <a:latin typeface="Arial"/>
                <a:ea typeface="微软雅黑"/>
              </a:rPr>
              <a:t>依赖目录</a:t>
            </a:r>
          </a:p>
        </p:txBody>
      </p:sp>
      <p:sp>
        <p:nvSpPr>
          <p:cNvPr id="100036" name="TextBox 6"/>
          <p:cNvSpPr txBox="1"/>
          <p:nvPr/>
        </p:nvSpPr>
        <p:spPr>
          <a:xfrm xmlns:a="http://schemas.openxmlformats.org/drawingml/2006/main">
            <a:off x="701330" y="1640000"/>
            <a:ext cx="5044670" cy="4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sz="1450" b="0">
                <a:solidFill>
                  <a:srgbClr val="333333"/>
                </a:solidFill>
                <a:latin typeface="Arial"/>
                <a:ea typeface="微软雅黑"/>
              </a:rPr>
              <a:t>build-tools/libs/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sz="1450" b="0">
                <a:solidFill>
                  <a:srgbClr val="333333"/>
                </a:solidFill>
                <a:latin typeface="Arial"/>
                <a:ea typeface="微软雅黑"/>
              </a:rPr>
              <a:t>boost-lib · eigen · jars · java_linux · tbb-linux</a:t>
            </a:r>
          </a:p>
        </p:txBody>
      </p:sp>
      <p:sp>
        <p:nvSpPr>
          <p:cNvPr id="100037" name="TextBox 7"/>
          <p:cNvSpPr/>
          <p:nvPr/>
        </p:nvSpPr>
        <p:spPr>
          <a:xfrm xmlns:a="http://schemas.openxmlformats.org/drawingml/2006/main">
            <a:off x="6236000" y="1020000"/>
            <a:ext cx="5464670" cy="118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12700">
            <a:solidFill>
              <a:srgbClr val="C9CDD4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/>
        </p:txBody>
      </p:sp>
      <p:sp>
        <p:nvSpPr>
          <p:cNvPr id="100038" name="TextBox 8"/>
          <p:cNvSpPr txBox="1"/>
          <p:nvPr/>
        </p:nvSpPr>
        <p:spPr>
          <a:xfrm xmlns:a="http://schemas.openxmlformats.org/drawingml/2006/main">
            <a:off x="6446000" y="1170000"/>
            <a:ext cx="5044670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800" b="1">
                <a:solidFill>
                  <a:srgbClr val="004AB8"/>
                </a:solidFill>
                <a:latin typeface="Arial"/>
                <a:ea typeface="微软雅黑"/>
              </a:rPr>
              <a:t>集群 profile</a:t>
            </a:r>
          </a:p>
        </p:txBody>
      </p:sp>
      <p:sp>
        <p:nvSpPr>
          <p:cNvPr id="100039" name="TextBox 9"/>
          <p:cNvSpPr txBox="1"/>
          <p:nvPr/>
        </p:nvSpPr>
        <p:spPr>
          <a:xfrm xmlns:a="http://schemas.openxmlformats.org/drawingml/2006/main">
            <a:off x="6446000" y="1640000"/>
            <a:ext cx="5044670" cy="4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sz="1450" b="0">
                <a:solidFill>
                  <a:srgbClr val="333333"/>
                </a:solidFill>
                <a:latin typeface="Arial"/>
                <a:ea typeface="微软雅黑"/>
              </a:rPr>
              <a:t>build-tools/profiles/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sz="1450" b="0">
                <a:solidFill>
                  <a:srgbClr val="333333"/>
                </a:solidFill>
                <a:latin typeface="Arial"/>
                <a:ea typeface="微软雅黑"/>
              </a:rPr>
              <a:t>wm1.profile · wm2.profile · custom.profile</a:t>
            </a:r>
          </a:p>
        </p:txBody>
      </p:sp>
      <p:sp>
        <p:nvSpPr>
          <p:cNvPr id="100040" name="TextBox 10"/>
          <p:cNvSpPr txBox="1"/>
          <p:nvPr/>
        </p:nvSpPr>
        <p:spPr>
          <a:xfrm xmlns:a="http://schemas.openxmlformats.org/drawingml/2006/main">
            <a:off x="491330" y="2260000"/>
            <a:ext cx="11209340" cy="3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400" b="1">
                <a:solidFill>
                  <a:srgbClr val="B00020"/>
                </a:solidFill>
                <a:latin typeface="Arial"/>
                <a:ea typeface="微软雅黑"/>
              </a:rPr>
              <a:t>统一环境脚本选择 profile；不要混用不同集群的 module、partition 与依赖路径。</a:t>
            </a:r>
          </a:p>
        </p:txBody>
      </p:sp>
      <p:sp>
        <p:nvSpPr>
          <p:cNvPr id="100041" name="TextBox 11"/>
          <p:cNvSpPr txBox="1"/>
          <p:nvPr/>
        </p:nvSpPr>
        <p:spPr>
          <a:xfrm xmlns:a="http://schemas.openxmlformats.org/drawingml/2006/main">
            <a:off x="491330" y="2680000"/>
            <a:ext cx="11209340" cy="3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600" b="1">
                <a:solidFill>
                  <a:srgbClr val="004AB8"/>
                </a:solidFill>
                <a:latin typeface="Arial"/>
                <a:ea typeface="微软雅黑"/>
              </a:rPr>
              <a:t>加载环境并编译</a:t>
            </a:r>
          </a:p>
        </p:txBody>
      </p:sp>
      <p:sp>
        <p:nvSpPr>
          <p:cNvPr id="100042" name="TextBox 12"/>
          <p:cNvSpPr txBox="1"/>
          <p:nvPr/>
        </p:nvSpPr>
        <p:spPr>
          <a:xfrm xmlns:a="http://schemas.openxmlformats.org/drawingml/2006/main">
            <a:off x="491330" y="3030000"/>
            <a:ext cx="11209340" cy="13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5D9DF"/>
            </a:solidFill>
          </a:ln>
        </p:spPr>
        <p:txBody>
          <a:bodyPr xmlns:a="http://schemas.openxmlformats.org/drawingml/2006/main" wrap="square" lIns="146304" tIns="146304" rIns="146304" bIns="146304" anchor="t">
            <a:normAutofit/>
          </a:bodyPr>
          <a:lstStyle xmlns:a="http://schemas.openxmlformats.org/drawingml/2006/main"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50" b="0">
                <a:solidFill>
                  <a:srgbClr val="1A1A1A"/>
                </a:solidFill>
                <a:latin typeface="Consolas"/>
                <a:ea typeface="Consolas"/>
              </a:rPr>
              <a:t>export GCAM_HPC_WORKSPACE=/path/to/gcam-hpc-PKU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50" b="0">
                <a:solidFill>
                  <a:srgbClr val="1A1A1A"/>
                </a:solidFill>
                <a:latin typeface="Consolas"/>
                <a:ea typeface="Consolas"/>
              </a:rPr>
              <a:t>export GCAM_HPC_CLUSTER=wm2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50" b="0">
                <a:solidFill>
                  <a:srgbClr val="1A1A1A"/>
                </a:solidFill>
                <a:latin typeface="Consolas"/>
                <a:ea typeface="Consolas"/>
              </a:rPr>
              <a:t>source gcam-hpc-tools/build-tools/environment.sh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50" b="0">
                <a:solidFill>
                  <a:srgbClr val="1A1A1A"/>
                </a:solidFill>
                <a:latin typeface="Consolas"/>
                <a:ea typeface="Consolas"/>
              </a:rPr>
              <a:t>cd "$GCAM_LIB"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50" b="0">
                <a:solidFill>
                  <a:srgbClr val="1A1A1A"/>
                </a:solidFill>
                <a:latin typeface="Consolas"/>
                <a:ea typeface="Consolas"/>
              </a:rPr>
              <a:t>make clean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50" b="0">
                <a:solidFill>
                  <a:srgbClr val="1A1A1A"/>
                </a:solidFill>
                <a:latin typeface="Consolas"/>
                <a:ea typeface="Consolas"/>
              </a:rPr>
              <a:t>make gcam -j 16</a:t>
            </a:r>
          </a:p>
        </p:txBody>
      </p:sp>
      <p:sp>
        <p:nvSpPr>
          <p:cNvPr id="100043" name="TextBox 13"/>
          <p:cNvSpPr txBox="1"/>
          <p:nvPr/>
        </p:nvSpPr>
        <p:spPr>
          <a:xfrm xmlns:a="http://schemas.openxmlformats.org/drawingml/2006/main">
            <a:off x="491330" y="4620000"/>
            <a:ext cx="11209340" cy="3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600" b="1">
                <a:solidFill>
                  <a:srgbClr val="004AB8"/>
                </a:solidFill>
                <a:latin typeface="Arial"/>
                <a:ea typeface="微软雅黑"/>
              </a:rPr>
              <a:t>编译成功标志</a:t>
            </a:r>
          </a:p>
        </p:txBody>
      </p:sp>
      <p:sp>
        <p:nvSpPr>
          <p:cNvPr id="100044" name="TextBox 14"/>
          <p:cNvSpPr txBox="1"/>
          <p:nvPr/>
        </p:nvSpPr>
        <p:spPr>
          <a:xfrm xmlns:a="http://schemas.openxmlformats.org/drawingml/2006/main">
            <a:off x="491330" y="4950000"/>
            <a:ext cx="1120934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400" b="0">
                <a:solidFill>
                  <a:srgbClr val="333333"/>
                </a:solidFill>
                <a:latin typeface="Arial"/>
                <a:ea typeface="微软雅黑"/>
              </a:rPr>
              <a:t>编译退出码为 0  ·  源码 exe/gcam.exe 已生成  ·  GCAMDIR / GCAM_LIB / TOOLDIR 指向预期目录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45" name="TextBox 1"/>
          <p:cNvSpPr txBox="1"/>
          <p:nvPr/>
        </p:nvSpPr>
        <p:spPr>
          <a:xfrm xmlns:a="http://schemas.openxmlformats.org/drawingml/2006/main">
            <a:off x="491330" y="116632"/>
            <a:ext cx="11209340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000" b="1">
                <a:solidFill>
                  <a:srgbClr val="000000"/>
                </a:solidFill>
                <a:latin typeface="Arial"/>
                <a:ea typeface="微软雅黑"/>
              </a:rPr>
              <a:t>② RUN：用 run-pipeline.sh 提交作业</a:t>
            </a:r>
          </a:p>
        </p:txBody>
      </p:sp>
      <p:sp>
        <p:nvSpPr>
          <p:cNvPr id="100046" name="TextBox 2"/>
          <p:cNvSpPr txBox="1"/>
          <p:nvPr/>
        </p:nvSpPr>
        <p:spPr>
          <a:xfrm xmlns:a="http://schemas.openxmlformats.org/drawingml/2006/main">
            <a:off x="491330" y="792000"/>
            <a:ext cx="11209340" cy="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B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7" name="TextBox 3"/>
          <p:cNvSpPr txBox="1"/>
          <p:nvPr/>
        </p:nvSpPr>
        <p:spPr>
          <a:xfrm xmlns:a="http://schemas.openxmlformats.org/drawingml/2006/main">
            <a:off x="11647856" y="6493000"/>
            <a:ext cx="42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lang="en-US" sz="1100">
                <a:solidFill>
                  <a:srgbClr val="808080"/>
                </a:solidFill>
                <a:latin typeface="Arial"/>
                <a:ea typeface="微软雅黑"/>
              </a:rPr>
              <a:t>8</a:t>
            </a:r>
          </a:p>
        </p:txBody>
      </p:sp>
      <p:sp>
        <p:nvSpPr>
          <p:cNvPr id="100048" name="TextBox 4"/>
          <p:cNvSpPr txBox="1"/>
          <p:nvPr/>
        </p:nvSpPr>
        <p:spPr>
          <a:xfrm xmlns:a="http://schemas.openxmlformats.org/drawingml/2006/main">
            <a:off x="491330" y="1020000"/>
            <a:ext cx="11209340" cy="3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600" b="1">
                <a:solidFill>
                  <a:srgbClr val="004AB8"/>
                </a:solidFill>
                <a:latin typeface="Arial"/>
                <a:ea typeface="微软雅黑"/>
              </a:rPr>
              <a:t>1 · 运行前检查：QUERY 已配置</a:t>
            </a:r>
          </a:p>
        </p:txBody>
      </p:sp>
      <p:sp>
        <p:nvSpPr>
          <p:cNvPr id="100049" name="TextBox 5"/>
          <p:cNvSpPr txBox="1"/>
          <p:nvPr/>
        </p:nvSpPr>
        <p:spPr>
          <a:xfrm xmlns:a="http://schemas.openxmlformats.org/drawingml/2006/main">
            <a:off x="491330" y="1370000"/>
            <a:ext cx="11209340" cy="6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5D9DF"/>
            </a:solidFill>
          </a:ln>
        </p:spPr>
        <p:txBody>
          <a:bodyPr xmlns:a="http://schemas.openxmlformats.org/drawingml/2006/main" wrap="square" lIns="146304" tIns="146304" rIns="146304" bIns="146304" anchor="t"/>
          <a:lstStyle xmlns:a="http://schemas.openxmlformats.org/drawingml/2006/main"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050" b="0">
                <a:solidFill>
                  <a:srgbClr val="1A1A1A"/>
                </a:solidFill>
                <a:latin typeface="Consolas"/>
                <a:ea typeface="Consolas"/>
              </a:rPr>
              <a:t>test -f gcam-hpc-tools/query-tools/user_batch_queries/modelinterface-batch.xml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050" b="0">
                <a:solidFill>
                  <a:srgbClr val="1A1A1A"/>
                </a:solidFill>
                <a:latin typeface="Consolas"/>
                <a:ea typeface="Consolas"/>
              </a:rPr>
              <a:t># 确认 &lt;queryFile&gt; 指向已生成的 queries-*.xml</a:t>
            </a:r>
          </a:p>
        </p:txBody>
      </p:sp>
      <p:sp>
        <p:nvSpPr>
          <p:cNvPr id="100050" name="TextBox 6"/>
          <p:cNvSpPr txBox="1"/>
          <p:nvPr/>
        </p:nvSpPr>
        <p:spPr>
          <a:xfrm xmlns:a="http://schemas.openxmlformats.org/drawingml/2006/main">
            <a:off x="491330" y="2110000"/>
            <a:ext cx="11209340" cy="3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600" b="1">
                <a:solidFill>
                  <a:srgbClr val="004AB8"/>
                </a:solidFill>
                <a:latin typeface="Arial"/>
                <a:ea typeface="微软雅黑"/>
              </a:rPr>
              <a:t>2 · source 环境并提交运行</a:t>
            </a:r>
          </a:p>
        </p:txBody>
      </p:sp>
      <p:sp>
        <p:nvSpPr>
          <p:cNvPr id="100051" name="TextBox 7"/>
          <p:cNvSpPr txBox="1"/>
          <p:nvPr/>
        </p:nvSpPr>
        <p:spPr>
          <a:xfrm xmlns:a="http://schemas.openxmlformats.org/drawingml/2006/main">
            <a:off x="491330" y="2460000"/>
            <a:ext cx="11209340" cy="9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5D9DF"/>
            </a:solidFill>
          </a:ln>
        </p:spPr>
        <p:txBody>
          <a:bodyPr xmlns:a="http://schemas.openxmlformats.org/drawingml/2006/main" wrap="square" lIns="146304" tIns="146304" rIns="146304" bIns="146304" anchor="t">
            <a:normAutofit/>
          </a:bodyPr>
          <a:lstStyle xmlns:a="http://schemas.openxmlformats.org/drawingml/2006/main"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150" b="0">
                <a:solidFill>
                  <a:srgbClr val="1A1A1A"/>
                </a:solidFill>
                <a:latin typeface="Consolas"/>
                <a:ea typeface="Consolas"/>
              </a:rPr>
              <a:t>source gcam-hpc-tools/build-tools/environment.sh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150" b="0">
                <a:solidFill>
                  <a:srgbClr val="1A1A1A"/>
                </a:solidFill>
                <a:latin typeface="Consolas"/>
                <a:ea typeface="Consolas"/>
              </a:rPr>
              <a:t>"$TOOLDIR/run-pipeline.sh" \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150" b="0">
                <a:solidFill>
                  <a:srgbClr val="1A1A1A"/>
                </a:solidFill>
                <a:latin typeface="Consolas"/>
                <a:ea typeface="Consolas"/>
              </a:rPr>
              <a:t xml:space="preserve">  "$TOOLDIR/configuration-sets/config/v82_default/v82_default_scenario_components.xml" \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150" b="0">
                <a:solidFill>
                  <a:srgbClr val="1A1A1A"/>
                </a:solidFill>
                <a:latin typeface="Consolas"/>
                <a:ea typeface="Consolas"/>
              </a:rPr>
              <a:t xml:space="preserve">  "$TOOLDIR/configuration-sets/config/v82_default/v82_default_batch_2.xml"</a:t>
            </a:r>
          </a:p>
        </p:txBody>
      </p:sp>
      <p:sp>
        <p:nvSpPr>
          <p:cNvPr id="100052" name="TextBox 8"/>
          <p:cNvSpPr txBox="1"/>
          <p:nvPr/>
        </p:nvSpPr>
        <p:spPr>
          <a:xfrm xmlns:a="http://schemas.openxmlformats.org/drawingml/2006/main">
            <a:off x="491330" y="3560000"/>
            <a:ext cx="11209340" cy="3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600" b="1">
                <a:solidFill>
                  <a:srgbClr val="004AB8"/>
                </a:solidFill>
                <a:latin typeface="Arial"/>
                <a:ea typeface="微软雅黑"/>
              </a:rPr>
              <a:t>3 · run-pipeline.sh 交互式确认</a:t>
            </a:r>
          </a:p>
        </p:txBody>
      </p:sp>
      <p:sp>
        <p:nvSpPr>
          <p:cNvPr id="100053" name="TextBox 9"/>
          <p:cNvSpPr txBox="1"/>
          <p:nvPr/>
        </p:nvSpPr>
        <p:spPr>
          <a:xfrm xmlns:a="http://schemas.openxmlformats.org/drawingml/2006/main">
            <a:off x="491330" y="3910000"/>
            <a:ext cx="11209340" cy="15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lang="en-US" sz="1400" b="0">
                <a:solidFill>
                  <a:srgbClr val="333333"/>
                </a:solidFill>
                <a:latin typeface="Arial"/>
                <a:ea typeface="微软雅黑"/>
              </a:rPr>
              <a:t>① 是否生成情景排列 (permutations)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lang="en-US" sz="1400" b="0">
                <a:solidFill>
                  <a:srgbClr val="333333"/>
                </a:solidFill>
                <a:latin typeface="Arial"/>
                <a:ea typeface="微软雅黑"/>
              </a:rPr>
              <a:t>② 同时运行多少个任务 (并行 task 数)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lang="en-US" sz="1400" b="0">
                <a:solidFill>
                  <a:srgbClr val="333333"/>
                </a:solidFill>
                <a:latin typeface="Arial"/>
                <a:ea typeface="微软雅黑"/>
              </a:rPr>
              <a:t>③ 是否立即用 sbatch 提交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lang="en-US" sz="1400" b="0">
                <a:solidFill>
                  <a:srgbClr val="333333"/>
                </a:solidFill>
                <a:latin typeface="Arial"/>
                <a:ea typeface="微软雅黑"/>
              </a:rPr>
              <a:t>注意：提交后每个情景都会执行预先写好的 QUERY，不能等 RUN 完成后再配置。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54" name="TextBox 1"/>
          <p:cNvSpPr txBox="1"/>
          <p:nvPr/>
        </p:nvSpPr>
        <p:spPr>
          <a:xfrm xmlns:a="http://schemas.openxmlformats.org/drawingml/2006/main">
            <a:off x="491330" y="116632"/>
            <a:ext cx="11209340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000" b="1">
                <a:solidFill>
                  <a:srgbClr val="000000"/>
                </a:solidFill>
                <a:latin typeface="Arial"/>
                <a:ea typeface="微软雅黑"/>
              </a:rPr>
              <a:t>② RUN 逻辑：逐情景查询，最后统一合并</a:t>
            </a:r>
          </a:p>
        </p:txBody>
      </p:sp>
      <p:sp>
        <p:nvSpPr>
          <p:cNvPr id="100055" name="TextBox 2"/>
          <p:cNvSpPr txBox="1"/>
          <p:nvPr/>
        </p:nvSpPr>
        <p:spPr>
          <a:xfrm xmlns:a="http://schemas.openxmlformats.org/drawingml/2006/main">
            <a:off x="491330" y="792000"/>
            <a:ext cx="11209340" cy="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B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6" name="TextBox 3"/>
          <p:cNvSpPr txBox="1"/>
          <p:nvPr/>
        </p:nvSpPr>
        <p:spPr>
          <a:xfrm xmlns:a="http://schemas.openxmlformats.org/drawingml/2006/main">
            <a:off x="11647856" y="6493000"/>
            <a:ext cx="42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lang="en-US" sz="1100">
                <a:solidFill>
                  <a:srgbClr val="808080"/>
                </a:solidFill>
                <a:latin typeface="Arial"/>
                <a:ea typeface="微软雅黑"/>
              </a:rPr>
              <a:t>9</a:t>
            </a:r>
          </a:p>
        </p:txBody>
      </p:sp>
      <p:sp>
        <p:nvSpPr>
          <p:cNvPr id="100057" name="TextBox 4"/>
          <p:cNvSpPr/>
          <p:nvPr/>
        </p:nvSpPr>
        <p:spPr>
          <a:xfrm xmlns:a="http://schemas.openxmlformats.org/drawingml/2006/main">
            <a:off x="491330" y="1620000"/>
            <a:ext cx="2041868" cy="1560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15875">
            <a:solidFill>
              <a:srgbClr val="004AB8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/>
        </p:txBody>
      </p:sp>
      <p:sp>
        <p:nvSpPr>
          <p:cNvPr id="100058" name="TextBox 5"/>
          <p:cNvSpPr txBox="1"/>
          <p:nvPr/>
        </p:nvSpPr>
        <p:spPr>
          <a:xfrm xmlns:a="http://schemas.openxmlformats.org/drawingml/2006/main">
            <a:off x="491330" y="1740000"/>
            <a:ext cx="2041868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1600" b="1">
                <a:solidFill>
                  <a:srgbClr val="004AB8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100059" name="TextBox 6"/>
          <p:cNvSpPr txBox="1"/>
          <p:nvPr/>
        </p:nvSpPr>
        <p:spPr>
          <a:xfrm xmlns:a="http://schemas.openxmlformats.org/drawingml/2006/main">
            <a:off x="491330" y="2090000"/>
            <a:ext cx="2041868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1600" b="1">
                <a:solidFill>
                  <a:srgbClr val="000000"/>
                </a:solidFill>
                <a:latin typeface="Arial"/>
                <a:ea typeface="微软雅黑"/>
              </a:rPr>
              <a:t>同步输入</a:t>
            </a:r>
          </a:p>
        </p:txBody>
      </p:sp>
      <p:sp>
        <p:nvSpPr>
          <p:cNvPr id="100060" name="TextBox 7"/>
          <p:cNvSpPr txBox="1"/>
          <p:nvPr/>
        </p:nvSpPr>
        <p:spPr>
          <a:xfrm xmlns:a="http://schemas.openxmlformats.org/drawingml/2006/main">
            <a:off x="581330" y="2470000"/>
            <a:ext cx="1861868" cy="6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1250" b="0">
                <a:solidFill>
                  <a:srgbClr val="444444"/>
                </a:solidFill>
                <a:latin typeface="Arial"/>
                <a:ea typeface="微软雅黑"/>
              </a:rPr>
              <a:t>GCAM input 与 user_batch_queries 同步到 scratch</a:t>
            </a:r>
          </a:p>
        </p:txBody>
      </p:sp>
      <p:sp>
        <p:nvSpPr>
          <p:cNvPr id="100061" name="TextBox 8"/>
          <p:cNvSpPr txBox="1"/>
          <p:nvPr/>
        </p:nvSpPr>
        <p:spPr>
          <a:xfrm xmlns:a="http://schemas.openxmlformats.org/drawingml/2006/main">
            <a:off x="2558198" y="2140000"/>
            <a:ext cx="22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2200" b="1">
                <a:solidFill>
                  <a:srgbClr val="004AB8"/>
                </a:solidFill>
                <a:latin typeface="Arial"/>
                <a:ea typeface="微软雅黑"/>
              </a:rPr>
              <a:t>→</a:t>
            </a:r>
          </a:p>
        </p:txBody>
      </p:sp>
      <p:sp>
        <p:nvSpPr>
          <p:cNvPr id="100062" name="TextBox 9"/>
          <p:cNvSpPr/>
          <p:nvPr/>
        </p:nvSpPr>
        <p:spPr>
          <a:xfrm xmlns:a="http://schemas.openxmlformats.org/drawingml/2006/main">
            <a:off x="2783198" y="1620000"/>
            <a:ext cx="2041868" cy="1560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15875">
            <a:solidFill>
              <a:srgbClr val="004AB8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/>
        </p:txBody>
      </p:sp>
      <p:sp>
        <p:nvSpPr>
          <p:cNvPr id="100063" name="TextBox 10"/>
          <p:cNvSpPr txBox="1"/>
          <p:nvPr/>
        </p:nvSpPr>
        <p:spPr>
          <a:xfrm xmlns:a="http://schemas.openxmlformats.org/drawingml/2006/main">
            <a:off x="2783198" y="1740000"/>
            <a:ext cx="2041868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1600" b="1">
                <a:solidFill>
                  <a:srgbClr val="004AB8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0064" name="TextBox 11"/>
          <p:cNvSpPr txBox="1"/>
          <p:nvPr/>
        </p:nvSpPr>
        <p:spPr>
          <a:xfrm xmlns:a="http://schemas.openxmlformats.org/drawingml/2006/main">
            <a:off x="2783198" y="2090000"/>
            <a:ext cx="2041868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1600" b="1">
                <a:solidFill>
                  <a:srgbClr val="000000"/>
                </a:solidFill>
                <a:latin typeface="Arial"/>
                <a:ea typeface="微软雅黑"/>
              </a:rPr>
              <a:t>生成情景</a:t>
            </a:r>
          </a:p>
        </p:txBody>
      </p:sp>
      <p:sp>
        <p:nvSpPr>
          <p:cNvPr id="100065" name="TextBox 12"/>
          <p:cNvSpPr txBox="1"/>
          <p:nvPr/>
        </p:nvSpPr>
        <p:spPr>
          <a:xfrm xmlns:a="http://schemas.openxmlformats.org/drawingml/2006/main">
            <a:off x="2873198" y="2470000"/>
            <a:ext cx="1861868" cy="6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1250" b="0">
                <a:solidFill>
                  <a:srgbClr val="444444"/>
                </a:solidFill>
                <a:latin typeface="Arial"/>
                <a:ea typeface="微软雅黑"/>
              </a:rPr>
              <a:t>generate-scenarios.sh 展开每个情景配置</a:t>
            </a:r>
          </a:p>
        </p:txBody>
      </p:sp>
      <p:sp>
        <p:nvSpPr>
          <p:cNvPr id="100066" name="TextBox 13"/>
          <p:cNvSpPr txBox="1"/>
          <p:nvPr/>
        </p:nvSpPr>
        <p:spPr>
          <a:xfrm xmlns:a="http://schemas.openxmlformats.org/drawingml/2006/main">
            <a:off x="4850066" y="2140000"/>
            <a:ext cx="22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2200" b="1">
                <a:solidFill>
                  <a:srgbClr val="004AB8"/>
                </a:solidFill>
                <a:latin typeface="Arial"/>
                <a:ea typeface="微软雅黑"/>
              </a:rPr>
              <a:t>→</a:t>
            </a:r>
          </a:p>
        </p:txBody>
      </p:sp>
      <p:sp>
        <p:nvSpPr>
          <p:cNvPr id="100067" name="TextBox 14"/>
          <p:cNvSpPr/>
          <p:nvPr/>
        </p:nvSpPr>
        <p:spPr>
          <a:xfrm xmlns:a="http://schemas.openxmlformats.org/drawingml/2006/main">
            <a:off x="5075066" y="1620000"/>
            <a:ext cx="2041868" cy="1560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15875">
            <a:solidFill>
              <a:srgbClr val="004AB8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/>
        </p:txBody>
      </p:sp>
      <p:sp>
        <p:nvSpPr>
          <p:cNvPr id="100068" name="TextBox 15"/>
          <p:cNvSpPr txBox="1"/>
          <p:nvPr/>
        </p:nvSpPr>
        <p:spPr>
          <a:xfrm xmlns:a="http://schemas.openxmlformats.org/drawingml/2006/main">
            <a:off x="5075066" y="1740000"/>
            <a:ext cx="2041868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1600" b="1">
                <a:solidFill>
                  <a:srgbClr val="004AB8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00069" name="TextBox 16"/>
          <p:cNvSpPr txBox="1"/>
          <p:nvPr/>
        </p:nvSpPr>
        <p:spPr>
          <a:xfrm xmlns:a="http://schemas.openxmlformats.org/drawingml/2006/main">
            <a:off x="5075066" y="2090000"/>
            <a:ext cx="2041868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1600" b="1">
                <a:solidFill>
                  <a:srgbClr val="000000"/>
                </a:solidFill>
                <a:latin typeface="Arial"/>
                <a:ea typeface="微软雅黑"/>
              </a:rPr>
              <a:t>生成作业</a:t>
            </a:r>
          </a:p>
        </p:txBody>
      </p:sp>
      <p:sp>
        <p:nvSpPr>
          <p:cNvPr id="100070" name="TextBox 17"/>
          <p:cNvSpPr txBox="1"/>
          <p:nvPr/>
        </p:nvSpPr>
        <p:spPr>
          <a:xfrm xmlns:a="http://schemas.openxmlformats.org/drawingml/2006/main">
            <a:off x="5165066" y="2470000"/>
            <a:ext cx="1861868" cy="6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1250" b="0">
                <a:solidFill>
                  <a:srgbClr val="444444"/>
                </a:solidFill>
                <a:latin typeface="Arial"/>
                <a:ea typeface="微软雅黑"/>
              </a:rPr>
              <a:t>按 profile 模板生成 generated-run.slurm</a:t>
            </a:r>
          </a:p>
        </p:txBody>
      </p:sp>
      <p:sp>
        <p:nvSpPr>
          <p:cNvPr id="100071" name="TextBox 18"/>
          <p:cNvSpPr txBox="1"/>
          <p:nvPr/>
        </p:nvSpPr>
        <p:spPr>
          <a:xfrm xmlns:a="http://schemas.openxmlformats.org/drawingml/2006/main">
            <a:off x="7141934" y="2140000"/>
            <a:ext cx="22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2200" b="1">
                <a:solidFill>
                  <a:srgbClr val="004AB8"/>
                </a:solidFill>
                <a:latin typeface="Arial"/>
                <a:ea typeface="微软雅黑"/>
              </a:rPr>
              <a:t>→</a:t>
            </a:r>
          </a:p>
        </p:txBody>
      </p:sp>
      <p:sp>
        <p:nvSpPr>
          <p:cNvPr id="100072" name="TextBox 19"/>
          <p:cNvSpPr/>
          <p:nvPr/>
        </p:nvSpPr>
        <p:spPr>
          <a:xfrm xmlns:a="http://schemas.openxmlformats.org/drawingml/2006/main">
            <a:off x="7366934" y="1620000"/>
            <a:ext cx="2041868" cy="1560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15875">
            <a:solidFill>
              <a:srgbClr val="004AB8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/>
        </p:txBody>
      </p:sp>
      <p:sp>
        <p:nvSpPr>
          <p:cNvPr id="100073" name="TextBox 20"/>
          <p:cNvSpPr txBox="1"/>
          <p:nvPr/>
        </p:nvSpPr>
        <p:spPr>
          <a:xfrm xmlns:a="http://schemas.openxmlformats.org/drawingml/2006/main">
            <a:off x="7366934" y="1740000"/>
            <a:ext cx="2041868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1600" b="1">
                <a:solidFill>
                  <a:srgbClr val="004AB8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00074" name="TextBox 21"/>
          <p:cNvSpPr txBox="1"/>
          <p:nvPr/>
        </p:nvSpPr>
        <p:spPr>
          <a:xfrm xmlns:a="http://schemas.openxmlformats.org/drawingml/2006/main">
            <a:off x="7366934" y="2090000"/>
            <a:ext cx="2041868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1600" b="1">
                <a:solidFill>
                  <a:srgbClr val="000000"/>
                </a:solidFill>
                <a:latin typeface="Arial"/>
                <a:ea typeface="微软雅黑"/>
              </a:rPr>
              <a:t>提交运行</a:t>
            </a:r>
          </a:p>
        </p:txBody>
      </p:sp>
      <p:sp>
        <p:nvSpPr>
          <p:cNvPr id="100075" name="TextBox 22"/>
          <p:cNvSpPr txBox="1"/>
          <p:nvPr/>
        </p:nvSpPr>
        <p:spPr>
          <a:xfrm xmlns:a="http://schemas.openxmlformats.org/drawingml/2006/main">
            <a:off x="7456934" y="2470000"/>
            <a:ext cx="1861868" cy="6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1250" b="0">
                <a:solidFill>
                  <a:srgbClr val="444444"/>
                </a:solidFill>
                <a:latin typeface="Arial"/>
                <a:ea typeface="微软雅黑"/>
              </a:rPr>
              <a:t>逐情景执行 GCAM，再跑预配置 QUERY</a:t>
            </a:r>
          </a:p>
        </p:txBody>
      </p:sp>
      <p:sp>
        <p:nvSpPr>
          <p:cNvPr id="100076" name="TextBox 23"/>
          <p:cNvSpPr txBox="1"/>
          <p:nvPr/>
        </p:nvSpPr>
        <p:spPr>
          <a:xfrm xmlns:a="http://schemas.openxmlformats.org/drawingml/2006/main">
            <a:off x="9433802" y="2140000"/>
            <a:ext cx="22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2200" b="1">
                <a:solidFill>
                  <a:srgbClr val="004AB8"/>
                </a:solidFill>
                <a:latin typeface="Arial"/>
                <a:ea typeface="微软雅黑"/>
              </a:rPr>
              <a:t>→</a:t>
            </a:r>
          </a:p>
        </p:txBody>
      </p:sp>
      <p:sp>
        <p:nvSpPr>
          <p:cNvPr id="100077" name="TextBox 24"/>
          <p:cNvSpPr/>
          <p:nvPr/>
        </p:nvSpPr>
        <p:spPr>
          <a:xfrm xmlns:a="http://schemas.openxmlformats.org/drawingml/2006/main">
            <a:off x="9658802" y="1620000"/>
            <a:ext cx="2041868" cy="1560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15875">
            <a:solidFill>
              <a:srgbClr val="004AB8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/>
        </p:txBody>
      </p:sp>
      <p:sp>
        <p:nvSpPr>
          <p:cNvPr id="100078" name="TextBox 25"/>
          <p:cNvSpPr txBox="1"/>
          <p:nvPr/>
        </p:nvSpPr>
        <p:spPr>
          <a:xfrm xmlns:a="http://schemas.openxmlformats.org/drawingml/2006/main">
            <a:off x="9658802" y="1740000"/>
            <a:ext cx="2041868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1600" b="1">
                <a:solidFill>
                  <a:srgbClr val="004AB8"/>
                </a:solidFill>
                <a:latin typeface="Arial"/>
                <a:ea typeface="微软雅黑"/>
              </a:rPr>
              <a:t>5</a:t>
            </a:r>
          </a:p>
        </p:txBody>
      </p:sp>
      <p:sp>
        <p:nvSpPr>
          <p:cNvPr id="100079" name="TextBox 26"/>
          <p:cNvSpPr txBox="1"/>
          <p:nvPr/>
        </p:nvSpPr>
        <p:spPr>
          <a:xfrm xmlns:a="http://schemas.openxmlformats.org/drawingml/2006/main">
            <a:off x="9658802" y="2090000"/>
            <a:ext cx="2041868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1600" b="1">
                <a:solidFill>
                  <a:srgbClr val="000000"/>
                </a:solidFill>
                <a:latin typeface="Arial"/>
                <a:ea typeface="微软雅黑"/>
              </a:rPr>
              <a:t>合并结果</a:t>
            </a:r>
          </a:p>
        </p:txBody>
      </p:sp>
      <p:sp>
        <p:nvSpPr>
          <p:cNvPr id="100080" name="TextBox 27"/>
          <p:cNvSpPr txBox="1"/>
          <p:nvPr/>
        </p:nvSpPr>
        <p:spPr>
          <a:xfrm xmlns:a="http://schemas.openxmlformats.org/drawingml/2006/main">
            <a:off x="9748802" y="2470000"/>
            <a:ext cx="1861868" cy="6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1250" b="0">
                <a:solidFill>
                  <a:srgbClr val="444444"/>
                </a:solidFill>
                <a:latin typeface="Arial"/>
                <a:ea typeface="微软雅黑"/>
              </a:rPr>
              <a:t>自动合并所有情景的查询 CSV</a:t>
            </a:r>
          </a:p>
        </p:txBody>
      </p:sp>
      <p:sp>
        <p:nvSpPr>
          <p:cNvPr id="100081" name="TextBox 28"/>
          <p:cNvSpPr txBox="1"/>
          <p:nvPr/>
        </p:nvSpPr>
        <p:spPr>
          <a:xfrm xmlns:a="http://schemas.openxmlformats.org/drawingml/2006/main">
            <a:off x="491330" y="3560000"/>
            <a:ext cx="11209340" cy="3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600" b="1">
                <a:solidFill>
                  <a:srgbClr val="004AB8"/>
                </a:solidFill>
                <a:latin typeface="Arial"/>
                <a:ea typeface="微软雅黑"/>
              </a:rPr>
              <a:t>关键点</a:t>
            </a:r>
          </a:p>
        </p:txBody>
      </p:sp>
      <p:sp>
        <p:nvSpPr>
          <p:cNvPr id="100082" name="TextBox 29"/>
          <p:cNvSpPr txBox="1"/>
          <p:nvPr/>
        </p:nvSpPr>
        <p:spPr>
          <a:xfrm xmlns:a="http://schemas.openxmlformats.org/drawingml/2006/main">
            <a:off x="491330" y="3900000"/>
            <a:ext cx="1120934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en-US" sz="1500" b="0">
                <a:solidFill>
                  <a:srgbClr val="333333"/>
                </a:solidFill>
                <a:latin typeface="Arial"/>
                <a:ea typeface="微软雅黑"/>
              </a:rPr>
              <a:t>• 每个情景执行 gcam.exe，随后执行 modelinterface-batch.xml 中预配置的 QUERY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en-US" sz="1500" b="0">
                <a:solidFill>
                  <a:srgbClr val="333333"/>
                </a:solidFill>
                <a:latin typeface="Arial"/>
                <a:ea typeface="微软雅黑"/>
              </a:rPr>
              <a:t>• run-pipeline.sh 以 afterok 依赖提交 merge-query-results.sh，最终汇总为一个 CSV</a:t>
            </a:r>
          </a:p>
        </p:txBody>
      </p:sp>
      <p:sp>
        <p:nvSpPr>
          <p:cNvPr id="100083" name="TextBox 30"/>
          <p:cNvSpPr txBox="1"/>
          <p:nvPr/>
        </p:nvSpPr>
        <p:spPr>
          <a:xfrm xmlns:a="http://schemas.openxmlformats.org/drawingml/2006/main">
            <a:off x="491330" y="4820000"/>
            <a:ext cx="11209340" cy="3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600" b="1">
                <a:solidFill>
                  <a:srgbClr val="004AB8"/>
                </a:solidFill>
                <a:latin typeface="Arial"/>
                <a:ea typeface="微软雅黑"/>
              </a:rPr>
              <a:t>查看运行状态</a:t>
            </a:r>
          </a:p>
        </p:txBody>
      </p:sp>
      <p:sp>
        <p:nvSpPr>
          <p:cNvPr id="100084" name="TextBox 31"/>
          <p:cNvSpPr txBox="1"/>
          <p:nvPr/>
        </p:nvSpPr>
        <p:spPr>
          <a:xfrm xmlns:a="http://schemas.openxmlformats.org/drawingml/2006/main">
            <a:off x="491330" y="5170000"/>
            <a:ext cx="11209340" cy="6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5D9DF"/>
            </a:solidFill>
          </a:ln>
        </p:spPr>
        <p:txBody>
          <a:bodyPr xmlns:a="http://schemas.openxmlformats.org/drawingml/2006/main" wrap="square" lIns="146304" tIns="146304" rIns="146304" bIns="146304" anchor="t">
            <a:normAutofit/>
          </a:bodyPr>
          <a:lstStyle xmlns:a="http://schemas.openxmlformats.org/drawingml/2006/main"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300" b="0">
                <a:solidFill>
                  <a:srgbClr val="1A1A1A"/>
                </a:solidFill>
                <a:latin typeface="Consolas"/>
                <a:ea typeface="Consolas"/>
              </a:rPr>
              <a:t>squeue -u $(whoami)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300" b="0">
                <a:solidFill>
                  <a:srgbClr val="1A1A1A"/>
                </a:solidFill>
                <a:latin typeface="Consolas"/>
                <a:ea typeface="Consolas"/>
              </a:rPr>
              <a:t>bash gcam-hpc-tools/run-tools/monitor-jobs.sh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85" name="TextBox 1"/>
          <p:cNvSpPr txBox="1"/>
          <p:nvPr/>
        </p:nvSpPr>
        <p:spPr>
          <a:xfrm xmlns:a="http://schemas.openxmlformats.org/drawingml/2006/main">
            <a:off x="491330" y="116632"/>
            <a:ext cx="11209340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000" b="1">
                <a:solidFill>
                  <a:srgbClr val="000000"/>
                </a:solidFill>
                <a:latin typeface="Arial"/>
                <a:ea typeface="微软雅黑"/>
              </a:rPr>
              <a:t>③ QUERY：配置在 RUN 前，执行在每个情景后</a:t>
            </a:r>
          </a:p>
        </p:txBody>
      </p:sp>
      <p:sp>
        <p:nvSpPr>
          <p:cNvPr id="100086" name="TextBox 2"/>
          <p:cNvSpPr txBox="1"/>
          <p:nvPr/>
        </p:nvSpPr>
        <p:spPr>
          <a:xfrm xmlns:a="http://schemas.openxmlformats.org/drawingml/2006/main">
            <a:off x="491330" y="792000"/>
            <a:ext cx="11209340" cy="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B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7" name="TextBox 3"/>
          <p:cNvSpPr txBox="1"/>
          <p:nvPr/>
        </p:nvSpPr>
        <p:spPr>
          <a:xfrm xmlns:a="http://schemas.openxmlformats.org/drawingml/2006/main">
            <a:off x="11647856" y="6493000"/>
            <a:ext cx="42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lang="en-US" sz="1100">
                <a:solidFill>
                  <a:srgbClr val="808080"/>
                </a:solidFill>
                <a:latin typeface="Arial"/>
                <a:ea typeface="微软雅黑"/>
              </a:rPr>
              <a:t>10</a:t>
            </a:r>
          </a:p>
        </p:txBody>
      </p:sp>
      <p:sp>
        <p:nvSpPr>
          <p:cNvPr id="100088" name="TextBox 4"/>
          <p:cNvSpPr txBox="1"/>
          <p:nvPr/>
        </p:nvSpPr>
        <p:spPr>
          <a:xfrm xmlns:a="http://schemas.openxmlformats.org/drawingml/2006/main">
            <a:off x="491330" y="1010000"/>
            <a:ext cx="11209340" cy="6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spcAft>
                <a:spcPts val="400"/>
              </a:spcAft>
            </a:pPr>
            <a:r>
              <a:rPr lang="en-US" sz="1450" b="0">
                <a:solidFill>
                  <a:srgbClr val="333333"/>
                </a:solidFill>
                <a:latin typeface="Arial"/>
                <a:ea typeface="微软雅黑"/>
              </a:rPr>
              <a:t>RUN 前生成 queries-*.xml，并由 modelinterface-batch.xml 引用；每个情景在 gcam.exe 后自动执行同一组 QUERY 并输出 CSV。</a:t>
            </a:r>
          </a:p>
        </p:txBody>
      </p:sp>
      <p:pic>
        <p:nvPicPr>
          <p:cNvPr id="100089" name="Picture 1" descr="GCAM-HPC RUN and QUERY pipelin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0b2e73a1f64d7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52000" y="1476000"/>
            <a:ext cx="9900000" cy="4950000"/>
          </a:xfrm>
          <a:prstGeom xmlns:a="http://schemas.openxmlformats.org/drawingml/2006/main" prst="rect">
            <a:avLst/>
          </a:prstGeom>
        </p:spPr>
      </p:pic>
      <p:sp>
        <p:nvSpPr>
          <p:cNvPr id="100090" name="TextBox 5"/>
          <p:cNvSpPr txBox="1"/>
          <p:nvPr/>
        </p:nvSpPr>
        <p:spPr>
          <a:xfrm xmlns:a="http://schemas.openxmlformats.org/drawingml/2006/main">
            <a:off x="2571000" y="6444000"/>
            <a:ext cx="7050000" cy="3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1200" b="0">
                <a:solidFill>
                  <a:srgbClr val="808080"/>
                </a:solidFill>
                <a:latin typeface="Arial"/>
                <a:ea typeface="微软雅黑"/>
              </a:rPr>
              <a:t>GCAM-HPC：RUN + QUERY 自动编排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91" name="TextBox 1"/>
          <p:cNvSpPr txBox="1"/>
          <p:nvPr/>
        </p:nvSpPr>
        <p:spPr>
          <a:xfrm xmlns:a="http://schemas.openxmlformats.org/drawingml/2006/main">
            <a:off x="491330" y="116632"/>
            <a:ext cx="11209340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000" b="1">
                <a:solidFill>
                  <a:srgbClr val="000000"/>
                </a:solidFill>
                <a:latin typeface="Arial"/>
                <a:ea typeface="微软雅黑"/>
              </a:rPr>
              <a:t>③ QUERY：生成 XML 并接入运行流程</a:t>
            </a:r>
          </a:p>
        </p:txBody>
      </p:sp>
      <p:sp>
        <p:nvSpPr>
          <p:cNvPr id="100092" name="TextBox 2"/>
          <p:cNvSpPr txBox="1"/>
          <p:nvPr/>
        </p:nvSpPr>
        <p:spPr>
          <a:xfrm xmlns:a="http://schemas.openxmlformats.org/drawingml/2006/main">
            <a:off x="491330" y="792000"/>
            <a:ext cx="11209340" cy="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B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3" name="TextBox 3"/>
          <p:cNvSpPr txBox="1"/>
          <p:nvPr/>
        </p:nvSpPr>
        <p:spPr>
          <a:xfrm xmlns:a="http://schemas.openxmlformats.org/drawingml/2006/main">
            <a:off x="11647856" y="6493000"/>
            <a:ext cx="42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lang="en-US" sz="1100">
                <a:solidFill>
                  <a:srgbClr val="808080"/>
                </a:solidFill>
                <a:latin typeface="Arial"/>
                <a:ea typeface="微软雅黑"/>
              </a:rPr>
              <a:t>11</a:t>
            </a:r>
          </a:p>
        </p:txBody>
      </p:sp>
      <p:sp>
        <p:nvSpPr>
          <p:cNvPr id="100094" name="TextBox 4"/>
          <p:cNvSpPr txBox="1"/>
          <p:nvPr/>
        </p:nvSpPr>
        <p:spPr>
          <a:xfrm xmlns:a="http://schemas.openxmlformats.org/drawingml/2006/main">
            <a:off x="491330" y="1020000"/>
            <a:ext cx="6050000" cy="3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600" b="1">
                <a:solidFill>
                  <a:srgbClr val="004AB8"/>
                </a:solidFill>
                <a:latin typeface="Arial"/>
                <a:ea typeface="微软雅黑"/>
              </a:rPr>
              <a:t>1 · 生成用户批量查询</a:t>
            </a:r>
          </a:p>
        </p:txBody>
      </p:sp>
      <p:sp>
        <p:nvSpPr>
          <p:cNvPr id="100095" name="TextBox 5"/>
          <p:cNvSpPr txBox="1"/>
          <p:nvPr/>
        </p:nvSpPr>
        <p:spPr>
          <a:xfrm xmlns:a="http://schemas.openxmlformats.org/drawingml/2006/main">
            <a:off x="491330" y="1370000"/>
            <a:ext cx="6050000" cy="9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5D9DF"/>
            </a:solidFill>
          </a:ln>
        </p:spPr>
        <p:txBody>
          <a:bodyPr xmlns:a="http://schemas.openxmlformats.org/drawingml/2006/main" wrap="square" lIns="146304" tIns="146304" rIns="146304" bIns="146304" anchor="t">
            <a:normAutofit/>
          </a:bodyPr>
          <a:lstStyle xmlns:a="http://schemas.openxmlformats.org/drawingml/2006/main"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150" b="0">
                <a:solidFill>
                  <a:srgbClr val="1A1A1A"/>
                </a:solidFill>
                <a:latin typeface="Consolas"/>
                <a:ea typeface="Consolas"/>
              </a:rPr>
              <a:t>query-tools/batch_query_generator/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150" b="0">
                <a:solidFill>
                  <a:srgbClr val="1A1A1A"/>
                </a:solidFill>
                <a:latin typeface="Consolas"/>
                <a:ea typeface="Consolas"/>
              </a:rPr>
              <a:t xml:space="preserve">  query-config.yaml                 # 选择 regions / queries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150" b="0">
                <a:solidFill>
                  <a:srgbClr val="1A1A1A"/>
                </a:solidFill>
                <a:latin typeface="Consolas"/>
                <a:ea typeface="Consolas"/>
              </a:rPr>
              <a:t xml:space="preserve">  build_queries.py                  # Python CLI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150" b="0">
                <a:solidFill>
                  <a:srgbClr val="1A1A1A"/>
                </a:solidFill>
                <a:latin typeface="Consolas"/>
                <a:ea typeface="Consolas"/>
              </a:rPr>
              <a:t xml:space="preserve">  interactive-query-builder.ipynb   # Notebook</a:t>
            </a:r>
          </a:p>
        </p:txBody>
      </p:sp>
      <p:sp>
        <p:nvSpPr>
          <p:cNvPr id="100096" name="TextBox 6"/>
          <p:cNvSpPr txBox="1"/>
          <p:nvPr/>
        </p:nvSpPr>
        <p:spPr>
          <a:xfrm xmlns:a="http://schemas.openxmlformats.org/drawingml/2006/main">
            <a:off x="491330" y="2400000"/>
            <a:ext cx="6050000" cy="11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en-US" sz="1300" b="0">
                <a:solidFill>
                  <a:srgbClr val="333333"/>
                </a:solidFill>
                <a:latin typeface="Arial"/>
                <a:ea typeface="微软雅黑"/>
              </a:rPr>
              <a:t>查询定义：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en-US" sz="1300" b="0">
                <a:solidFill>
                  <a:srgbClr val="333333"/>
                </a:solidFill>
                <a:latin typeface="Arial"/>
                <a:ea typeface="微软雅黑"/>
              </a:rPr>
              <a:t>query-definitions/main-queries.xml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en-US" sz="1300" b="0">
                <a:solidFill>
                  <a:srgbClr val="333333"/>
                </a:solidFill>
                <a:latin typeface="Arial"/>
                <a:ea typeface="微软雅黑"/>
              </a:rPr>
              <a:t>query-definitions/share-weight-query.xml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en-US" sz="1300" b="0">
                <a:solidFill>
                  <a:srgbClr val="333333"/>
                </a:solidFill>
                <a:latin typeface="Arial"/>
                <a:ea typeface="微软雅黑"/>
              </a:rPr>
              <a:t/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en-US" sz="1300" b="0">
                <a:solidFill>
                  <a:srgbClr val="333333"/>
                </a:solidFill>
                <a:latin typeface="Arial"/>
                <a:ea typeface="微软雅黑"/>
              </a:rPr>
              <a:t>→ 输出 user_batch_queries/queries-&lt;timestamp&gt;.xml</a:t>
            </a:r>
          </a:p>
        </p:txBody>
      </p:sp>
      <p:sp>
        <p:nvSpPr>
          <p:cNvPr id="100097" name="TextBox 7"/>
          <p:cNvSpPr txBox="1"/>
          <p:nvPr/>
        </p:nvSpPr>
        <p:spPr>
          <a:xfrm xmlns:a="http://schemas.openxmlformats.org/drawingml/2006/main">
            <a:off x="491330" y="3560000"/>
            <a:ext cx="6050000" cy="6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400"/>
              </a:spcAft>
            </a:pPr>
            <a:r>
              <a:rPr lang="en-US" sz="1300" b="0">
                <a:solidFill>
                  <a:srgbClr val="595959"/>
                </a:solidFill>
                <a:latin typeface="Arial"/>
                <a:ea typeface="微软雅黑"/>
              </a:rPr>
              <a:t>queries-*.xml 是本地用户配置，已被 Git 忽略；提交 RUN 前必须先生成。</a:t>
            </a:r>
          </a:p>
        </p:txBody>
      </p:sp>
      <p:pic>
        <p:nvPicPr>
          <p:cNvPr id="10009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665216dd1b4df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880670" y="1150000"/>
            <a:ext cx="4820000" cy="2490137"/>
          </a:xfrm>
          <a:prstGeom xmlns:a="http://schemas.openxmlformats.org/drawingml/2006/main" prst="rect">
            <a:avLst/>
          </a:prstGeom>
        </p:spPr>
      </p:pic>
      <p:sp>
        <p:nvSpPr>
          <p:cNvPr id="100099" name="TextBox 8"/>
          <p:cNvSpPr txBox="1"/>
          <p:nvPr/>
        </p:nvSpPr>
        <p:spPr>
          <a:xfrm xmlns:a="http://schemas.openxmlformats.org/drawingml/2006/main">
            <a:off x="6880670" y="3670137"/>
            <a:ext cx="482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1200" b="0">
                <a:solidFill>
                  <a:srgbClr val="808080"/>
                </a:solidFill>
                <a:latin typeface="Arial"/>
                <a:ea typeface="微软雅黑"/>
              </a:rPr>
              <a:t>交互式 QUERY 生成器</a:t>
            </a:r>
          </a:p>
        </p:txBody>
      </p:sp>
      <p:sp>
        <p:nvSpPr>
          <p:cNvPr id="100100" name="TextBox 9"/>
          <p:cNvSpPr txBox="1"/>
          <p:nvPr/>
        </p:nvSpPr>
        <p:spPr>
          <a:xfrm xmlns:a="http://schemas.openxmlformats.org/drawingml/2006/main">
            <a:off x="491330" y="4380000"/>
            <a:ext cx="11209340" cy="3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600" b="1">
                <a:solidFill>
                  <a:srgbClr val="004AB8"/>
                </a:solidFill>
                <a:latin typeface="Arial"/>
                <a:ea typeface="微软雅黑"/>
              </a:rPr>
              <a:t>2 · 配置 modelinterface-batch.xml</a:t>
            </a:r>
          </a:p>
        </p:txBody>
      </p:sp>
      <p:sp>
        <p:nvSpPr>
          <p:cNvPr id="100101" name="TextBox 10"/>
          <p:cNvSpPr txBox="1"/>
          <p:nvPr/>
        </p:nvSpPr>
        <p:spPr>
          <a:xfrm xmlns:a="http://schemas.openxmlformats.org/drawingml/2006/main">
            <a:off x="491330" y="4710000"/>
            <a:ext cx="11209340" cy="4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350" b="0">
                <a:solidFill>
                  <a:srgbClr val="333333"/>
                </a:solidFill>
                <a:latin typeface="Arial"/>
                <a:ea typeface="微软雅黑"/>
              </a:rPr>
              <a:t>run-pipeline.sh 将 user_batch_queries/ 同步到 scratch/output/xmldb_queries/；&lt;queryFile&gt; 必须指向同步后的文件。</a:t>
            </a:r>
          </a:p>
        </p:txBody>
      </p:sp>
      <p:sp>
        <p:nvSpPr>
          <p:cNvPr id="100102" name="TextBox 11"/>
          <p:cNvSpPr txBox="1"/>
          <p:nvPr/>
        </p:nvSpPr>
        <p:spPr>
          <a:xfrm xmlns:a="http://schemas.openxmlformats.org/drawingml/2006/main">
            <a:off x="491330" y="5180000"/>
            <a:ext cx="11209340" cy="4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5D9DF"/>
            </a:solidFill>
          </a:ln>
        </p:spPr>
        <p:txBody>
          <a:bodyPr xmlns:a="http://schemas.openxmlformats.org/drawingml/2006/main" wrap="square" lIns="146304" tIns="146304" rIns="146304" bIns="146304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50" b="0">
                <a:solidFill>
                  <a:srgbClr val="1A1A1A"/>
                </a:solidFill>
                <a:latin typeface="Consolas"/>
                <a:ea typeface="Consolas"/>
              </a:rPr>
              <a:t>&lt;queryFile&gt;../output/xmldb_queries/queries-20260726-110822.xml&lt;/queryFile&gt;</a:t>
            </a: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03" name="TextBox 1"/>
          <p:cNvSpPr txBox="1"/>
          <p:nvPr/>
        </p:nvSpPr>
        <p:spPr>
          <a:xfrm xmlns:a="http://schemas.openxmlformats.org/drawingml/2006/main">
            <a:off x="491330" y="116632"/>
            <a:ext cx="11209340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000" b="1">
                <a:solidFill>
                  <a:srgbClr val="000000"/>
                </a:solidFill>
                <a:latin typeface="Arial"/>
                <a:ea typeface="微软雅黑"/>
              </a:rPr>
              <a:t>输出位置与常见问题</a:t>
            </a:r>
          </a:p>
        </p:txBody>
      </p:sp>
      <p:sp>
        <p:nvSpPr>
          <p:cNvPr id="100104" name="TextBox 2"/>
          <p:cNvSpPr txBox="1"/>
          <p:nvPr/>
        </p:nvSpPr>
        <p:spPr>
          <a:xfrm xmlns:a="http://schemas.openxmlformats.org/drawingml/2006/main">
            <a:off x="491330" y="792000"/>
            <a:ext cx="11209340" cy="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B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5" name="TextBox 3"/>
          <p:cNvSpPr txBox="1"/>
          <p:nvPr/>
        </p:nvSpPr>
        <p:spPr>
          <a:xfrm xmlns:a="http://schemas.openxmlformats.org/drawingml/2006/main">
            <a:off x="11647856" y="6493000"/>
            <a:ext cx="42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lang="en-US" sz="1100">
                <a:solidFill>
                  <a:srgbClr val="808080"/>
                </a:solidFill>
                <a:latin typeface="Arial"/>
                <a:ea typeface="微软雅黑"/>
              </a:rPr>
              <a:t>12</a:t>
            </a:r>
          </a:p>
        </p:txBody>
      </p:sp>
      <p:sp>
        <p:nvSpPr>
          <p:cNvPr id="100106" name="TextBox 4"/>
          <p:cNvSpPr txBox="1"/>
          <p:nvPr/>
        </p:nvSpPr>
        <p:spPr>
          <a:xfrm xmlns:a="http://schemas.openxmlformats.org/drawingml/2006/main">
            <a:off x="491330" y="1020000"/>
            <a:ext cx="11209340" cy="3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600" b="1">
                <a:solidFill>
                  <a:srgbClr val="004AB8"/>
                </a:solidFill>
                <a:latin typeface="Arial"/>
                <a:ea typeface="微软雅黑"/>
              </a:rPr>
              <a:t>输出目录</a:t>
            </a:r>
          </a:p>
        </p:txBody>
      </p:sp>
      <p:sp>
        <p:nvSpPr>
          <p:cNvPr id="100107" name="TextBox 5"/>
          <p:cNvSpPr txBox="1"/>
          <p:nvPr/>
        </p:nvSpPr>
        <p:spPr>
          <a:xfrm xmlns:a="http://schemas.openxmlformats.org/drawingml/2006/main">
            <a:off x="491330" y="1370000"/>
            <a:ext cx="11209340" cy="12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5D9DF"/>
            </a:solidFill>
          </a:ln>
        </p:spPr>
        <p:txBody>
          <a:bodyPr xmlns:a="http://schemas.openxmlformats.org/drawingml/2006/main" wrap="square" lIns="146304" tIns="146304" rIns="146304" bIns="146304" anchor="t"/>
          <a:lstStyle xmlns:a="http://schemas.openxmlformats.org/drawingml/2006/main"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0">
                <a:solidFill>
                  <a:srgbClr val="1A1A1A"/>
                </a:solidFill>
                <a:latin typeface="Consolas"/>
                <a:ea typeface="Consolas"/>
              </a:rPr>
              <a:t>gcam-scratch/output/run_YYYYmmdd_HHMMSS/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0">
                <a:solidFill>
                  <a:srgbClr val="1A1A1A"/>
                </a:solidFill>
                <a:latin typeface="Consolas"/>
                <a:ea typeface="Consolas"/>
              </a:rPr>
              <a:t>├─ output_&lt;task&gt;.txt        # 各任务标准输出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0">
                <a:solidFill>
                  <a:srgbClr val="1A1A1A"/>
                </a:solidFill>
                <a:latin typeface="Consolas"/>
                <a:ea typeface="Consolas"/>
              </a:rPr>
              <a:t>├─ out_query_&lt;task&gt;/        # 各任务 QUERY CSV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0">
                <a:solidFill>
                  <a:srgbClr val="1A1A1A"/>
                </a:solidFill>
                <a:latin typeface="Consolas"/>
                <a:ea typeface="Consolas"/>
              </a:rPr>
              <a:t>└─ Final_&lt;merge-jobid&gt;.csv  # merge-query-results.sh 合并结果</a:t>
            </a:r>
          </a:p>
        </p:txBody>
      </p:sp>
      <p:sp>
        <p:nvSpPr>
          <p:cNvPr id="100108" name="TextBox 6"/>
          <p:cNvSpPr txBox="1"/>
          <p:nvPr/>
        </p:nvSpPr>
        <p:spPr>
          <a:xfrm xmlns:a="http://schemas.openxmlformats.org/drawingml/2006/main">
            <a:off x="491330" y="2820000"/>
            <a:ext cx="11209340" cy="3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600" b="1">
                <a:solidFill>
                  <a:srgbClr val="004AB8"/>
                </a:solidFill>
                <a:latin typeface="Arial"/>
                <a:ea typeface="微软雅黑"/>
              </a:rPr>
              <a:t>常见问题</a:t>
            </a:r>
          </a:p>
        </p:txBody>
      </p:sp>
      <p:sp>
        <p:nvSpPr>
          <p:cNvPr id="100109" name="TextBox 7"/>
          <p:cNvSpPr txBox="1"/>
          <p:nvPr/>
        </p:nvSpPr>
        <p:spPr>
          <a:xfrm xmlns:a="http://schemas.openxmlformats.org/drawingml/2006/main">
            <a:off x="491330" y="3170000"/>
            <a:ext cx="11209340" cy="2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lang="en-US" sz="1450" b="0">
                <a:solidFill>
                  <a:srgbClr val="333333"/>
                </a:solidFill>
                <a:latin typeface="Arial"/>
                <a:ea typeface="微软雅黑"/>
              </a:rPr>
              <a:t>• 未解压 gcam-hpc-pku-libs.zip 内的 archive/libs.zip，导致 build-tools/libs/ 不完整</a:t>
            </a:r>
          </a:p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lang="en-US" sz="1450" b="0">
                <a:solidFill>
                  <a:srgbClr val="333333"/>
                </a:solidFill>
                <a:latin typeface="Arial"/>
                <a:ea typeface="微软雅黑"/>
              </a:rPr>
              <a:t>• 工作区存在多个 gcam-* 源码目录，或 GCAMDIR 指向错误</a:t>
            </a:r>
          </a:p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lang="en-US" sz="1450" b="0">
                <a:solidFill>
                  <a:srgbClr val="333333"/>
                </a:solidFill>
                <a:latin typeface="Arial"/>
                <a:ea typeface="微软雅黑"/>
              </a:rPr>
              <a:t>• cluster profile 选择错误，Slurm partition、module 或依赖路径不匹配</a:t>
            </a:r>
          </a:p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lang="en-US" sz="1450" b="0">
                <a:solidFill>
                  <a:srgbClr val="333333"/>
                </a:solidFill>
                <a:latin typeface="Arial"/>
                <a:ea typeface="微软雅黑"/>
              </a:rPr>
              <a:t>• RUN 前未生成 queries-*.xml，或 modelinterface-batch.xml 仍指向旧文件名</a:t>
            </a:r>
          </a:p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lang="en-US" sz="1450" b="0">
                <a:solidFill>
                  <a:srgbClr val="333333"/>
                </a:solidFill>
                <a:latin typeface="Arial"/>
                <a:ea typeface="微软雅黑"/>
              </a:rPr>
              <a:t>• QUERY 的 region / query 名称与定义文件不一致</a:t>
            </a: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10" name="TextBox 1"/>
          <p:cNvSpPr txBox="1"/>
          <p:nvPr/>
        </p:nvSpPr>
        <p:spPr>
          <a:xfrm xmlns:a="http://schemas.openxmlformats.org/drawingml/2006/main">
            <a:off x="491330" y="116632"/>
            <a:ext cx="11209340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000" b="1">
                <a:solidFill>
                  <a:srgbClr val="000000"/>
                </a:solidFill>
                <a:latin typeface="Arial"/>
                <a:ea typeface="微软雅黑"/>
              </a:rPr>
              <a:t>参考与获取</a:t>
            </a:r>
          </a:p>
        </p:txBody>
      </p:sp>
      <p:sp>
        <p:nvSpPr>
          <p:cNvPr id="100111" name="TextBox 2"/>
          <p:cNvSpPr txBox="1"/>
          <p:nvPr/>
        </p:nvSpPr>
        <p:spPr>
          <a:xfrm xmlns:a="http://schemas.openxmlformats.org/drawingml/2006/main">
            <a:off x="491330" y="792000"/>
            <a:ext cx="11209340" cy="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B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12" name="TextBox 3"/>
          <p:cNvSpPr txBox="1"/>
          <p:nvPr/>
        </p:nvSpPr>
        <p:spPr>
          <a:xfrm xmlns:a="http://schemas.openxmlformats.org/drawingml/2006/main">
            <a:off x="11647856" y="6493000"/>
            <a:ext cx="42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lang="en-US" sz="1100">
                <a:solidFill>
                  <a:srgbClr val="808080"/>
                </a:solidFill>
                <a:latin typeface="Arial"/>
                <a:ea typeface="微软雅黑"/>
              </a:rPr>
              <a:t>13</a:t>
            </a:r>
          </a:p>
        </p:txBody>
      </p:sp>
      <p:sp>
        <p:nvSpPr>
          <p:cNvPr id="100113" name="TextBox 4"/>
          <p:cNvSpPr txBox="1"/>
          <p:nvPr/>
        </p:nvSpPr>
        <p:spPr>
          <a:xfrm xmlns:a="http://schemas.openxmlformats.org/drawingml/2006/main">
            <a:off x="491330" y="1100000"/>
            <a:ext cx="1120934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800" b="1">
                <a:solidFill>
                  <a:srgbClr val="004AB8"/>
                </a:solidFill>
                <a:latin typeface="Arial"/>
                <a:ea typeface="微软雅黑"/>
              </a:rPr>
              <a:t>工具集与文档</a:t>
            </a:r>
          </a:p>
        </p:txBody>
      </p:sp>
      <p:sp>
        <p:nvSpPr>
          <p:cNvPr id="100114" name="TextBox 5"/>
          <p:cNvSpPr txBox="1"/>
          <p:nvPr/>
        </p:nvSpPr>
        <p:spPr>
          <a:xfrm xmlns:a="http://schemas.openxmlformats.org/drawingml/2006/main">
            <a:off x="491330" y="1560000"/>
            <a:ext cx="11209340" cy="1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spcAft>
                <a:spcPts val="0"/>
              </a:spcAft>
            </a:pPr>
            <a:r>
              <a:rPr lang="en-US" sz="1550" b="0">
                <a:solidFill>
                  <a:srgbClr val="333333"/>
                </a:solidFill>
                <a:latin typeface="Arial"/>
                <a:ea typeface="微软雅黑"/>
              </a:rPr>
              <a:t>仓库    https://github.com/jerrysong0128/gcam-hpc-PKU</a:t>
            </a:r>
          </a:p>
          <a:p xmlns:a="http://schemas.openxmlformats.org/drawingml/2006/main">
            <a:pPr algn="l">
              <a:lnSpc>
                <a:spcPct val="170000"/>
              </a:lnSpc>
              <a:spcAft>
                <a:spcPts val="0"/>
              </a:spcAft>
            </a:pPr>
            <a:r>
              <a:rPr lang="en-US" sz="1550" b="0">
                <a:solidFill>
                  <a:srgbClr val="333333"/>
                </a:solidFill>
                <a:latin typeface="Arial"/>
                <a:ea typeface="微软雅黑"/>
              </a:rPr>
              <a:t>Wiki    Home · 1-Build · 2-Run · 3-Query（QUERY 须在 RUN 前配置）</a:t>
            </a:r>
          </a:p>
          <a:p xmlns:a="http://schemas.openxmlformats.org/drawingml/2006/main">
            <a:pPr algn="l">
              <a:lnSpc>
                <a:spcPct val="170000"/>
              </a:lnSpc>
              <a:spcAft>
                <a:spcPts val="0"/>
              </a:spcAft>
            </a:pPr>
            <a:r>
              <a:rPr lang="en-US" sz="1550" b="0">
                <a:solidFill>
                  <a:srgbClr val="333333"/>
                </a:solidFill>
                <a:latin typeface="Arial"/>
                <a:ea typeface="微软雅黑"/>
              </a:rPr>
              <a:t>源码    gcam-core: JGCRI/gcam-core   ·   gcam-china: umd-cgs/gcam-china</a:t>
            </a:r>
          </a:p>
        </p:txBody>
      </p:sp>
      <p:sp>
        <p:nvSpPr>
          <p:cNvPr id="100115" name="TextBox 6"/>
          <p:cNvSpPr txBox="1"/>
          <p:nvPr/>
        </p:nvSpPr>
        <p:spPr>
          <a:xfrm xmlns:a="http://schemas.openxmlformats.org/drawingml/2006/main">
            <a:off x="491330" y="3240000"/>
            <a:ext cx="11209340" cy="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16" name="TextBox 7"/>
          <p:cNvSpPr txBox="1"/>
          <p:nvPr/>
        </p:nvSpPr>
        <p:spPr>
          <a:xfrm xmlns:a="http://schemas.openxmlformats.org/drawingml/2006/main">
            <a:off x="491330" y="3480000"/>
            <a:ext cx="1120934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800" b="1">
                <a:solidFill>
                  <a:srgbClr val="004AB8"/>
                </a:solidFill>
                <a:latin typeface="Arial"/>
                <a:ea typeface="微软雅黑"/>
              </a:rPr>
              <a:t>三步速览</a:t>
            </a:r>
          </a:p>
        </p:txBody>
      </p:sp>
      <p:sp>
        <p:nvSpPr>
          <p:cNvPr id="100117" name="TextBox 8"/>
          <p:cNvSpPr txBox="1"/>
          <p:nvPr/>
        </p:nvSpPr>
        <p:spPr>
          <a:xfrm xmlns:a="http://schemas.openxmlformats.org/drawingml/2006/main">
            <a:off x="491330" y="3940000"/>
            <a:ext cx="11209340" cy="1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lang="en-US" sz="1400" b="0">
                <a:solidFill>
                  <a:srgbClr val="333333"/>
                </a:solidFill>
                <a:latin typeface="Arial"/>
                <a:ea typeface="微软雅黑"/>
              </a:rPr>
              <a:t>BUILD   上传源码 → 解压 libs → source environment.sh → make gcam</a:t>
            </a:r>
          </a:p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lang="en-US" sz="1400" b="0">
                <a:solidFill>
                  <a:srgbClr val="333333"/>
                </a:solidFill>
                <a:latin typeface="Arial"/>
                <a:ea typeface="微软雅黑"/>
              </a:rPr>
              <a:t>QUERY   选择 regions / queries → build_queries.py → 配置 modelinterface-batch.xml</a:t>
            </a:r>
          </a:p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lang="en-US" sz="1400" b="0">
                <a:solidFill>
                  <a:srgbClr val="333333"/>
                </a:solidFill>
                <a:latin typeface="Arial"/>
                <a:ea typeface="微软雅黑"/>
              </a:rPr>
              <a:t>RUN     run-pipeline.sh → 每个情景运行 GCAM + QUERY → 自动合并 CSV</a:t>
            </a:r>
          </a:p>
        </p:txBody>
      </p:sp>
      <p:sp>
        <p:nvSpPr>
          <p:cNvPr id="100118" name="TextBox 9"/>
          <p:cNvSpPr txBox="1"/>
          <p:nvPr/>
        </p:nvSpPr>
        <p:spPr>
          <a:xfrm xmlns:a="http://schemas.openxmlformats.org/drawingml/2006/main">
            <a:off x="491330" y="5920000"/>
            <a:ext cx="1120934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300" b="0">
                <a:solidFill>
                  <a:srgbClr val="808080"/>
                </a:solidFill>
                <a:latin typeface="Arial"/>
                <a:ea typeface="微软雅黑"/>
              </a:rPr>
              <a:t>宋京阳  jerrysong2025@stu.pku.edu.cn</a:t>
            </a:r>
          </a:p>
        </p:txBody>
      </p:sp>
    </p:spTree>
  </p:cSld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0"/>
</p:tagLst>
</file>

<file path=ppt/theme/theme1.xml><?xml version="1.0" encoding="utf-8"?>
<a:theme xmlns:thm15="http://schemas.microsoft.com/office/thememl/2012/main"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kaa5yhwu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</Words>
  <Application>Microsoft Macintosh PowerPoint</Application>
  <PresentationFormat>Widescreen</PresentationFormat>
  <Paragraphs>22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Arial</vt:lpstr>
      <vt:lpstr>Microsoft YaHei</vt:lpstr>
      <vt:lpstr>Microsoft YaHei</vt:lpstr>
      <vt:lpstr>Microsoft YaHei UI</vt:lpstr>
      <vt:lpstr>Office 主题​​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JerrySong</dc:creator>
  <cp:lastModifiedBy>JerrySong</cp:lastModifiedBy>
  <cp:revision>1</cp:revision>
  <dcterms:created xsi:type="dcterms:W3CDTF">2026-07-25T07:02:49Z</dcterms:created>
  <dcterms:modified xsi:type="dcterms:W3CDTF">2026-07-25T07:03:38Z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1.0.141</vt:lpwstr>
  </op:property>
  <op:property fmtid="{D5CDD505-2E9C-101B-9397-08002B2CF9AE}" pid="3" name="OfficeCLI.LastModified">
    <vt:lpwstr xmlns:vt="http://schemas.openxmlformats.org/officeDocument/2006/docPropsVTypes">2026-07-26T04:28:38Z</vt:lpwstr>
  </op:property>
</op:Properties>
</file>